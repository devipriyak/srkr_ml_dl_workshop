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5" r:id="rId1"/>
  </p:sldMasterIdLst>
  <p:notesMasterIdLst>
    <p:notesMasterId r:id="rId43"/>
  </p:notesMasterIdLst>
  <p:sldIdLst>
    <p:sldId id="285" r:id="rId2"/>
    <p:sldId id="286" r:id="rId3"/>
    <p:sldId id="266" r:id="rId4"/>
    <p:sldId id="272" r:id="rId5"/>
    <p:sldId id="273" r:id="rId6"/>
    <p:sldId id="289" r:id="rId7"/>
    <p:sldId id="291" r:id="rId8"/>
    <p:sldId id="293" r:id="rId9"/>
    <p:sldId id="290" r:id="rId10"/>
    <p:sldId id="294" r:id="rId11"/>
    <p:sldId id="295" r:id="rId12"/>
    <p:sldId id="296" r:id="rId13"/>
    <p:sldId id="298" r:id="rId14"/>
    <p:sldId id="300" r:id="rId15"/>
    <p:sldId id="299" r:id="rId16"/>
    <p:sldId id="302" r:id="rId17"/>
    <p:sldId id="303" r:id="rId18"/>
    <p:sldId id="304" r:id="rId19"/>
    <p:sldId id="305" r:id="rId20"/>
    <p:sldId id="306" r:id="rId21"/>
    <p:sldId id="307" r:id="rId22"/>
    <p:sldId id="308" r:id="rId23"/>
    <p:sldId id="309" r:id="rId24"/>
    <p:sldId id="310" r:id="rId25"/>
    <p:sldId id="311" r:id="rId26"/>
    <p:sldId id="313" r:id="rId27"/>
    <p:sldId id="314" r:id="rId28"/>
    <p:sldId id="315" r:id="rId29"/>
    <p:sldId id="316" r:id="rId30"/>
    <p:sldId id="317" r:id="rId31"/>
    <p:sldId id="319" r:id="rId32"/>
    <p:sldId id="320" r:id="rId33"/>
    <p:sldId id="321" r:id="rId34"/>
    <p:sldId id="322" r:id="rId35"/>
    <p:sldId id="323" r:id="rId36"/>
    <p:sldId id="324" r:id="rId37"/>
    <p:sldId id="325" r:id="rId38"/>
    <p:sldId id="326" r:id="rId39"/>
    <p:sldId id="327" r:id="rId40"/>
    <p:sldId id="284" r:id="rId41"/>
    <p:sldId id="31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4060"/>
    <a:srgbClr val="FF33CC"/>
    <a:srgbClr val="66FFCC"/>
    <a:srgbClr val="33CCFF"/>
    <a:srgbClr val="FFCCCC"/>
    <a:srgbClr val="287688"/>
    <a:srgbClr val="24AC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53311C-CE8F-467C-9BE8-7D88C5AA1A94}" type="datetimeFigureOut">
              <a:rPr lang="en-IN" smtClean="0"/>
              <a:t>23-12-2025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79254-3BD7-4A78-AE79-AB66CEE2EDB2}" type="slidenum">
              <a:rPr lang="en-IN" smtClean="0"/>
              <a:t>‹#›</a:t>
            </a:fld>
            <a:endParaRPr lang="en-IN"/>
          </a:p>
        </p:txBody>
      </p:sp>
    </p:spTree>
    <p:extLst>
      <p:ext uri="{BB962C8B-B14F-4D97-AF65-F5344CB8AC3E}">
        <p14:creationId xmlns:p14="http://schemas.microsoft.com/office/powerpoint/2010/main" val="2403750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1CADF9F0-3E0B-B842-2572-27F36577B2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a:extLst>
              <a:ext uri="{FF2B5EF4-FFF2-40B4-BE49-F238E27FC236}">
                <a16:creationId xmlns:a16="http://schemas.microsoft.com/office/drawing/2014/main" id="{FD7076E6-D03B-C824-D304-6DB8F5FE83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32772" name="Slide Number Placeholder 3">
            <a:extLst>
              <a:ext uri="{FF2B5EF4-FFF2-40B4-BE49-F238E27FC236}">
                <a16:creationId xmlns:a16="http://schemas.microsoft.com/office/drawing/2014/main" id="{8BA46244-00BD-1AB1-2688-B13CF08A399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fld id="{10358E8A-9AC5-43FF-BBD5-1418FCA79ED1}" type="slidenum">
              <a:rPr lang="en-US" altLang="en-US">
                <a:latin typeface="Calibri" panose="020F0502020204030204" pitchFamily="34" charset="0"/>
              </a:rPr>
              <a:pPr/>
              <a:t>5</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07263991-9F51-BB67-B1E3-1299EE2B05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101F89B2-7ED6-444A-1AFA-0F9CEDB4C4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http://www.asimovinstitute.org/neural-network-zoo/</a:t>
            </a:r>
          </a:p>
        </p:txBody>
      </p:sp>
      <p:sp>
        <p:nvSpPr>
          <p:cNvPr id="46084" name="Slide Number Placeholder 3">
            <a:extLst>
              <a:ext uri="{FF2B5EF4-FFF2-40B4-BE49-F238E27FC236}">
                <a16:creationId xmlns:a16="http://schemas.microsoft.com/office/drawing/2014/main" id="{16BC2416-7802-652C-E80B-BAA8A9FF73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fld id="{8F23A827-FC13-4508-84BB-903E7658D78C}" type="slidenum">
              <a:rPr lang="en-US" altLang="en-US">
                <a:latin typeface="Calibri" panose="020F0502020204030204" pitchFamily="34" charset="0"/>
              </a:rPr>
              <a:pPr/>
              <a:t>26</a:t>
            </a:fld>
            <a:endParaRPr lang="en-US" altLang="en-US">
              <a:latin typeface="Calibri" panose="020F0502020204030204" pitchFamily="34" charset="0"/>
            </a:endParaRPr>
          </a:p>
        </p:txBody>
      </p:sp>
    </p:spTree>
    <p:extLst>
      <p:ext uri="{BB962C8B-B14F-4D97-AF65-F5344CB8AC3E}">
        <p14:creationId xmlns:p14="http://schemas.microsoft.com/office/powerpoint/2010/main" val="2061483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3DD85A11-6332-10B9-B41F-4766BFFEA0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C22E7398-02B5-767F-3C03-FA1AFBD2B0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47108" name="Slide Number Placeholder 3">
            <a:extLst>
              <a:ext uri="{FF2B5EF4-FFF2-40B4-BE49-F238E27FC236}">
                <a16:creationId xmlns:a16="http://schemas.microsoft.com/office/drawing/2014/main" id="{4A9F8A2B-AAF7-72A1-787D-2F8A710DAD1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fld id="{FB6AD2F0-A372-4C30-AB51-557D5982F5E9}" type="slidenum">
              <a:rPr lang="en-US" altLang="en-US">
                <a:latin typeface="Calibri" panose="020F0502020204030204" pitchFamily="34" charset="0"/>
              </a:rPr>
              <a:pPr/>
              <a:t>27</a:t>
            </a:fld>
            <a:endParaRPr lang="en-US" altLang="en-US">
              <a:latin typeface="Calibri" panose="020F0502020204030204" pitchFamily="34" charset="0"/>
            </a:endParaRPr>
          </a:p>
        </p:txBody>
      </p:sp>
    </p:spTree>
    <p:extLst>
      <p:ext uri="{BB962C8B-B14F-4D97-AF65-F5344CB8AC3E}">
        <p14:creationId xmlns:p14="http://schemas.microsoft.com/office/powerpoint/2010/main" val="1553495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Σύμβολο κράτησης θέσης εικόνας διαφάνειας 1">
            <a:extLst>
              <a:ext uri="{FF2B5EF4-FFF2-40B4-BE49-F238E27FC236}">
                <a16:creationId xmlns:a16="http://schemas.microsoft.com/office/drawing/2014/main" id="{BD6B8F52-D220-D504-C902-664F30CE58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Σύμβολο κράτησης θέσης σημειώσεων 2">
            <a:extLst>
              <a:ext uri="{FF2B5EF4-FFF2-40B4-BE49-F238E27FC236}">
                <a16:creationId xmlns:a16="http://schemas.microsoft.com/office/drawing/2014/main" id="{CD75705C-D451-4409-F6BB-71152DF4DD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a:t>the width m of the convolution filters is set to 5 </a:t>
            </a:r>
          </a:p>
          <a:p>
            <a:pPr>
              <a:spcBef>
                <a:spcPct val="0"/>
              </a:spcBef>
            </a:pPr>
            <a:r>
              <a:rPr lang="en-US" altLang="en-US"/>
              <a:t>n = 300 feature maps</a:t>
            </a:r>
          </a:p>
          <a:p>
            <a:pPr>
              <a:spcBef>
                <a:spcPct val="0"/>
              </a:spcBef>
            </a:pPr>
            <a:r>
              <a:rPr lang="en-US" altLang="en-US"/>
              <a:t>first layer embeds words into low-dimensional vectors. </a:t>
            </a:r>
          </a:p>
          <a:p>
            <a:pPr>
              <a:spcBef>
                <a:spcPct val="0"/>
              </a:spcBef>
            </a:pPr>
            <a:endParaRPr lang="el-GR" altLang="en-US"/>
          </a:p>
        </p:txBody>
      </p:sp>
      <p:sp>
        <p:nvSpPr>
          <p:cNvPr id="48132" name="Σύμβολο κράτησης θέσης αριθμού διαφάνειας 3">
            <a:extLst>
              <a:ext uri="{FF2B5EF4-FFF2-40B4-BE49-F238E27FC236}">
                <a16:creationId xmlns:a16="http://schemas.microsoft.com/office/drawing/2014/main" id="{066F5762-F0D3-6C95-2041-66EBE66AFFB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fld id="{E83A2032-1D60-4876-B3BE-CEF440888C15}" type="slidenum">
              <a:rPr lang="en-US" altLang="en-US">
                <a:latin typeface="Calibri" panose="020F0502020204030204" pitchFamily="34" charset="0"/>
              </a:rPr>
              <a:pPr/>
              <a:t>28</a:t>
            </a:fld>
            <a:endParaRPr lang="en-US" altLang="en-US">
              <a:latin typeface="Calibri" panose="020F0502020204030204" pitchFamily="34" charset="0"/>
            </a:endParaRPr>
          </a:p>
        </p:txBody>
      </p:sp>
    </p:spTree>
    <p:extLst>
      <p:ext uri="{BB962C8B-B14F-4D97-AF65-F5344CB8AC3E}">
        <p14:creationId xmlns:p14="http://schemas.microsoft.com/office/powerpoint/2010/main" val="46358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8D384BFE-B81B-B3CA-77E6-C8C9BBCA62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2C90B836-6C4E-3421-2DBB-D5CC077130E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49156" name="Slide Number Placeholder 3">
            <a:extLst>
              <a:ext uri="{FF2B5EF4-FFF2-40B4-BE49-F238E27FC236}">
                <a16:creationId xmlns:a16="http://schemas.microsoft.com/office/drawing/2014/main" id="{CE268893-AA59-84A2-9164-53860C2F99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fld id="{0DE499AF-87E8-4818-8C34-E6474D512569}" type="slidenum">
              <a:rPr lang="en-US" altLang="en-US">
                <a:latin typeface="Calibri" panose="020F0502020204030204" pitchFamily="34" charset="0"/>
              </a:rPr>
              <a:pPr/>
              <a:t>29</a:t>
            </a:fld>
            <a:endParaRPr lang="en-US" altLang="en-US">
              <a:latin typeface="Calibri" panose="020F0502020204030204" pitchFamily="34" charset="0"/>
            </a:endParaRPr>
          </a:p>
        </p:txBody>
      </p:sp>
    </p:spTree>
    <p:extLst>
      <p:ext uri="{BB962C8B-B14F-4D97-AF65-F5344CB8AC3E}">
        <p14:creationId xmlns:p14="http://schemas.microsoft.com/office/powerpoint/2010/main" val="1212721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1914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63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357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1782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9014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610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69460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28499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23384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6764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85112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888326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701150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461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88870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127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12/23/2025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18470748"/>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 id="2147483758" r:id="rId13"/>
    <p:sldLayoutId id="2147483759" r:id="rId14"/>
    <p:sldLayoutId id="2147483760" r:id="rId15"/>
    <p:sldLayoutId id="214748376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geeksforgeeks.org/deep-learning/relu-activation-function-in-deep-learnin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eeksforgeeks.org/python/single-layer-perceptron-in-tensorflow/" TargetMode="External"/><Relationship Id="rId7" Type="http://schemas.openxmlformats.org/officeDocument/2006/relationships/hyperlink" Target="https://www.geeksforgeeks.org/deep-learning/deep-learning-introduction-to-long-short-term-memory/" TargetMode="External"/><Relationship Id="rId2" Type="http://schemas.openxmlformats.org/officeDocument/2006/relationships/hyperlink" Target="https://www.geeksforgeeks.org/nlp/feedforward-neural-network/" TargetMode="External"/><Relationship Id="rId1" Type="http://schemas.openxmlformats.org/officeDocument/2006/relationships/slideLayout" Target="../slideLayouts/slideLayout2.xml"/><Relationship Id="rId6" Type="http://schemas.openxmlformats.org/officeDocument/2006/relationships/hyperlink" Target="https://www.geeksforgeeks.org/machine-learning/introduction-to-recurrent-neural-network/" TargetMode="External"/><Relationship Id="rId5" Type="http://schemas.openxmlformats.org/officeDocument/2006/relationships/hyperlink" Target="https://www.geeksforgeeks.org/machine-learning/introduction-convolution-neural-network/" TargetMode="External"/><Relationship Id="rId4" Type="http://schemas.openxmlformats.org/officeDocument/2006/relationships/hyperlink" Target="https://www.geeksforgeeks.org/deep-learning/multi-layer-perceptron-learning-in-tensorflow/"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1517" y="1595536"/>
            <a:ext cx="7622485" cy="1211632"/>
          </a:xfrm>
        </p:spPr>
        <p:txBody>
          <a:bodyPr>
            <a:normAutofit fontScale="90000"/>
          </a:bodyPr>
          <a:lstStyle/>
          <a:p>
            <a:pPr algn="ctr"/>
            <a:r>
              <a:rPr lang="en-US" dirty="0">
                <a:solidFill>
                  <a:schemeClr val="accent4"/>
                </a:solidFill>
              </a:rPr>
              <a:t>Machine Learning and Deep Learning </a:t>
            </a:r>
          </a:p>
        </p:txBody>
      </p:sp>
      <p:sp>
        <p:nvSpPr>
          <p:cNvPr id="3" name="Subtitle 2"/>
          <p:cNvSpPr>
            <a:spLocks noGrp="1"/>
          </p:cNvSpPr>
          <p:nvPr>
            <p:ph type="subTitle" idx="1"/>
          </p:nvPr>
        </p:nvSpPr>
        <p:spPr>
          <a:xfrm>
            <a:off x="1539551" y="3429001"/>
            <a:ext cx="7734452" cy="1718732"/>
          </a:xfrm>
        </p:spPr>
        <p:txBody>
          <a:bodyPr>
            <a:noAutofit/>
          </a:bodyPr>
          <a:lstStyle/>
          <a:p>
            <a:pPr algn="ctr"/>
            <a:r>
              <a:rPr lang="en-US" sz="2400" dirty="0" err="1"/>
              <a:t>Dr.K</a:t>
            </a:r>
            <a:r>
              <a:rPr lang="en-US" sz="2400" dirty="0"/>
              <a:t> </a:t>
            </a:r>
            <a:r>
              <a:rPr lang="en-US" sz="2400" dirty="0" err="1"/>
              <a:t>DeviPriya</a:t>
            </a:r>
            <a:endParaRPr lang="en-US" sz="2400" dirty="0"/>
          </a:p>
          <a:p>
            <a:pPr algn="ctr"/>
            <a:r>
              <a:rPr lang="en-US" sz="2400" dirty="0"/>
              <a:t>Professor</a:t>
            </a:r>
          </a:p>
          <a:p>
            <a:pPr algn="ctr"/>
            <a:r>
              <a:rPr lang="en-US" sz="2400" dirty="0"/>
              <a:t>Computer Science and engineering</a:t>
            </a:r>
          </a:p>
          <a:p>
            <a:pPr algn="ctr"/>
            <a:r>
              <a:rPr lang="en-US" sz="2400" dirty="0" err="1"/>
              <a:t>Lakireddy</a:t>
            </a:r>
            <a:r>
              <a:rPr lang="en-US" sz="2400" dirty="0"/>
              <a:t> Bali Reddy College of Engineering</a:t>
            </a:r>
          </a:p>
          <a:p>
            <a:pPr algn="ctr"/>
            <a:r>
              <a:rPr lang="en-US" sz="2400" dirty="0" err="1"/>
              <a:t>Mylavaram</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EBDC-E268-F59E-7C3A-EED34FB22EC8}"/>
              </a:ext>
            </a:extLst>
          </p:cNvPr>
          <p:cNvSpPr>
            <a:spLocks noGrp="1"/>
          </p:cNvSpPr>
          <p:nvPr>
            <p:ph type="ctrTitle"/>
          </p:nvPr>
        </p:nvSpPr>
        <p:spPr/>
        <p:txBody>
          <a:bodyPr>
            <a:normAutofit/>
          </a:bodyPr>
          <a:lstStyle/>
          <a:p>
            <a:r>
              <a:rPr lang="en-US" sz="4400" dirty="0">
                <a:solidFill>
                  <a:srgbClr val="FF0000"/>
                </a:solidFill>
                <a:latin typeface="Algerian" panose="04020705040A02060702" pitchFamily="82" charset="0"/>
              </a:rPr>
              <a:t>MACHINE LEARNING</a:t>
            </a:r>
            <a:endParaRPr lang="en-IN" sz="4400" dirty="0">
              <a:solidFill>
                <a:srgbClr val="FF0000"/>
              </a:solidFill>
              <a:latin typeface="Algerian" panose="04020705040A02060702" pitchFamily="82" charset="0"/>
            </a:endParaRPr>
          </a:p>
        </p:txBody>
      </p:sp>
      <p:sp>
        <p:nvSpPr>
          <p:cNvPr id="3" name="Subtitle 2">
            <a:extLst>
              <a:ext uri="{FF2B5EF4-FFF2-40B4-BE49-F238E27FC236}">
                <a16:creationId xmlns:a16="http://schemas.microsoft.com/office/drawing/2014/main" id="{35480B33-500A-6E3B-3010-C7C58A8FA811}"/>
              </a:ext>
            </a:extLst>
          </p:cNvPr>
          <p:cNvSpPr>
            <a:spLocks noGrp="1"/>
          </p:cNvSpPr>
          <p:nvPr>
            <p:ph type="subTitle" idx="1"/>
          </p:nvPr>
        </p:nvSpPr>
        <p:spPr/>
        <p:txBody>
          <a:bodyPr/>
          <a:lstStyle/>
          <a:p>
            <a:r>
              <a:rPr lang="en-US" dirty="0"/>
              <a:t>S</a:t>
            </a:r>
            <a:endParaRPr lang="en-IN" dirty="0"/>
          </a:p>
        </p:txBody>
      </p:sp>
      <p:pic>
        <p:nvPicPr>
          <p:cNvPr id="6" name="Picture 5">
            <a:extLst>
              <a:ext uri="{FF2B5EF4-FFF2-40B4-BE49-F238E27FC236}">
                <a16:creationId xmlns:a16="http://schemas.microsoft.com/office/drawing/2014/main" id="{61C2520F-CC72-FCD7-036A-C7695EBC710C}"/>
              </a:ext>
            </a:extLst>
          </p:cNvPr>
          <p:cNvPicPr>
            <a:picLocks noChangeAspect="1"/>
          </p:cNvPicPr>
          <p:nvPr/>
        </p:nvPicPr>
        <p:blipFill>
          <a:blip r:embed="rId2"/>
          <a:stretch>
            <a:fillRect/>
          </a:stretch>
        </p:blipFill>
        <p:spPr>
          <a:xfrm>
            <a:off x="0" y="-30618"/>
            <a:ext cx="12192000" cy="6857999"/>
          </a:xfrm>
          <a:prstGeom prst="rect">
            <a:avLst/>
          </a:prstGeom>
        </p:spPr>
      </p:pic>
      <p:sp>
        <p:nvSpPr>
          <p:cNvPr id="10" name="TextBox 9">
            <a:extLst>
              <a:ext uri="{FF2B5EF4-FFF2-40B4-BE49-F238E27FC236}">
                <a16:creationId xmlns:a16="http://schemas.microsoft.com/office/drawing/2014/main" id="{4099FFCA-B3E1-0614-E6C6-83180C433334}"/>
              </a:ext>
            </a:extLst>
          </p:cNvPr>
          <p:cNvSpPr txBox="1"/>
          <p:nvPr/>
        </p:nvSpPr>
        <p:spPr>
          <a:xfrm>
            <a:off x="5433134" y="3029050"/>
            <a:ext cx="6249879" cy="280076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8800" dirty="0">
                <a:solidFill>
                  <a:srgbClr val="FF33CC"/>
                </a:solidFill>
                <a:latin typeface="Algerian" panose="04020705040A02060702" pitchFamily="82" charset="0"/>
              </a:rPr>
              <a:t>MACHINE LEARNING</a:t>
            </a:r>
            <a:endParaRPr lang="en-IN" sz="8800" dirty="0">
              <a:solidFill>
                <a:srgbClr val="FF33CC"/>
              </a:solidFill>
            </a:endParaRPr>
          </a:p>
        </p:txBody>
      </p:sp>
    </p:spTree>
    <p:extLst>
      <p:ext uri="{BB962C8B-B14F-4D97-AF65-F5344CB8AC3E}">
        <p14:creationId xmlns:p14="http://schemas.microsoft.com/office/powerpoint/2010/main" val="2302218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DDB5A6-59B3-32EE-DE22-C37282B7C21E}"/>
              </a:ext>
            </a:extLst>
          </p:cNvPr>
          <p:cNvPicPr>
            <a:picLocks noChangeAspect="1"/>
          </p:cNvPicPr>
          <p:nvPr/>
        </p:nvPicPr>
        <p:blipFill>
          <a:blip r:embed="rId2"/>
          <a:stretch>
            <a:fillRect/>
          </a:stretch>
        </p:blipFill>
        <p:spPr>
          <a:xfrm>
            <a:off x="1819922" y="523783"/>
            <a:ext cx="8389397" cy="5513033"/>
          </a:xfrm>
          <a:prstGeom prst="rect">
            <a:avLst/>
          </a:prstGeom>
        </p:spPr>
      </p:pic>
    </p:spTree>
    <p:extLst>
      <p:ext uri="{BB962C8B-B14F-4D97-AF65-F5344CB8AC3E}">
        <p14:creationId xmlns:p14="http://schemas.microsoft.com/office/powerpoint/2010/main" val="3025110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AF47AB5C-24B6-2427-0386-A46660D56D1B}"/>
              </a:ext>
            </a:extLst>
          </p:cNvPr>
          <p:cNvSpPr>
            <a:spLocks noChangeArrowheads="1"/>
          </p:cNvSpPr>
          <p:nvPr/>
        </p:nvSpPr>
        <p:spPr bwMode="auto">
          <a:xfrm>
            <a:off x="1981200" y="1425576"/>
            <a:ext cx="7899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Machine learning is a field of computer science that gives computers the ability to </a:t>
            </a:r>
            <a:r>
              <a:rPr lang="en-US" altLang="en-US" b="1">
                <a:solidFill>
                  <a:schemeClr val="accent2"/>
                </a:solidFill>
              </a:rPr>
              <a:t>learn without being explicitly programmed</a:t>
            </a:r>
          </a:p>
        </p:txBody>
      </p:sp>
      <p:sp>
        <p:nvSpPr>
          <p:cNvPr id="7171" name="Rectangle 8">
            <a:extLst>
              <a:ext uri="{FF2B5EF4-FFF2-40B4-BE49-F238E27FC236}">
                <a16:creationId xmlns:a16="http://schemas.microsoft.com/office/drawing/2014/main" id="{EFA828F3-A4D3-7ADD-12C3-9EEC6A3DBE91}"/>
              </a:ext>
            </a:extLst>
          </p:cNvPr>
          <p:cNvSpPr>
            <a:spLocks noChangeArrowheads="1"/>
          </p:cNvSpPr>
          <p:nvPr/>
        </p:nvSpPr>
        <p:spPr bwMode="auto">
          <a:xfrm>
            <a:off x="1981200" y="5551489"/>
            <a:ext cx="8496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Methods that can learn from and make predictions on data</a:t>
            </a:r>
          </a:p>
        </p:txBody>
      </p:sp>
      <p:grpSp>
        <p:nvGrpSpPr>
          <p:cNvPr id="7172" name="Group 77">
            <a:extLst>
              <a:ext uri="{FF2B5EF4-FFF2-40B4-BE49-F238E27FC236}">
                <a16:creationId xmlns:a16="http://schemas.microsoft.com/office/drawing/2014/main" id="{6D93996E-9DE2-1C93-DBA8-ED21E4BB96DD}"/>
              </a:ext>
            </a:extLst>
          </p:cNvPr>
          <p:cNvGrpSpPr>
            <a:grpSpLocks/>
          </p:cNvGrpSpPr>
          <p:nvPr/>
        </p:nvGrpSpPr>
        <p:grpSpPr bwMode="auto">
          <a:xfrm>
            <a:off x="1981200" y="2359025"/>
            <a:ext cx="8496300" cy="2738438"/>
            <a:chOff x="457200" y="2682748"/>
            <a:chExt cx="8496300" cy="2737104"/>
          </a:xfrm>
        </p:grpSpPr>
        <p:sp>
          <p:nvSpPr>
            <p:cNvPr id="12" name="Can 11">
              <a:extLst>
                <a:ext uri="{FF2B5EF4-FFF2-40B4-BE49-F238E27FC236}">
                  <a16:creationId xmlns:a16="http://schemas.microsoft.com/office/drawing/2014/main" id="{3DC30ED4-C5A6-CF54-3E0D-7A5E24FE6ABD}"/>
                </a:ext>
              </a:extLst>
            </p:cNvPr>
            <p:cNvSpPr/>
            <p:nvPr/>
          </p:nvSpPr>
          <p:spPr>
            <a:xfrm>
              <a:off x="457200" y="2682748"/>
              <a:ext cx="2108200" cy="949452"/>
            </a:xfrm>
            <a:prstGeom prst="can">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Labeled Data</a:t>
              </a:r>
            </a:p>
          </p:txBody>
        </p:sp>
        <p:sp>
          <p:nvSpPr>
            <p:cNvPr id="13" name="Can 12">
              <a:extLst>
                <a:ext uri="{FF2B5EF4-FFF2-40B4-BE49-F238E27FC236}">
                  <a16:creationId xmlns:a16="http://schemas.microsoft.com/office/drawing/2014/main" id="{26478FF8-D456-5DA6-40DD-1422A44B45F7}"/>
                </a:ext>
              </a:extLst>
            </p:cNvPr>
            <p:cNvSpPr/>
            <p:nvPr/>
          </p:nvSpPr>
          <p:spPr>
            <a:xfrm>
              <a:off x="457200" y="4470400"/>
              <a:ext cx="2108200" cy="949452"/>
            </a:xfrm>
            <a:prstGeom prst="can">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dirty="0"/>
                <a:t>Labeled Data</a:t>
              </a:r>
            </a:p>
          </p:txBody>
        </p:sp>
        <p:sp>
          <p:nvSpPr>
            <p:cNvPr id="14" name="Rounded Rectangle 13">
              <a:extLst>
                <a:ext uri="{FF2B5EF4-FFF2-40B4-BE49-F238E27FC236}">
                  <a16:creationId xmlns:a16="http://schemas.microsoft.com/office/drawing/2014/main" id="{FD7AB531-B527-9278-B416-31053115FEFE}"/>
                </a:ext>
              </a:extLst>
            </p:cNvPr>
            <p:cNvSpPr/>
            <p:nvPr/>
          </p:nvSpPr>
          <p:spPr>
            <a:xfrm>
              <a:off x="3542697" y="2682748"/>
              <a:ext cx="2654300" cy="949452"/>
            </a:xfrm>
            <a:prstGeom prst="roundRect">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dirty="0"/>
                <a:t>Machine Learning algorithm</a:t>
              </a:r>
            </a:p>
          </p:txBody>
        </p:sp>
        <p:sp>
          <p:nvSpPr>
            <p:cNvPr id="15" name="Cube 14">
              <a:extLst>
                <a:ext uri="{FF2B5EF4-FFF2-40B4-BE49-F238E27FC236}">
                  <a16:creationId xmlns:a16="http://schemas.microsoft.com/office/drawing/2014/main" id="{DAFDB773-CA21-7315-672D-58B03BA0270F}"/>
                </a:ext>
              </a:extLst>
            </p:cNvPr>
            <p:cNvSpPr/>
            <p:nvPr/>
          </p:nvSpPr>
          <p:spPr>
            <a:xfrm>
              <a:off x="3809397" y="4364454"/>
              <a:ext cx="1943100" cy="909574"/>
            </a:xfrm>
            <a:prstGeom prst="cube">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dirty="0"/>
                <a:t>Learned model</a:t>
              </a:r>
            </a:p>
          </p:txBody>
        </p:sp>
        <p:sp>
          <p:nvSpPr>
            <p:cNvPr id="18" name="Bevel 17">
              <a:extLst>
                <a:ext uri="{FF2B5EF4-FFF2-40B4-BE49-F238E27FC236}">
                  <a16:creationId xmlns:a16="http://schemas.microsoft.com/office/drawing/2014/main" id="{58BFA71C-6292-15CF-35CC-87B176E948E3}"/>
                </a:ext>
              </a:extLst>
            </p:cNvPr>
            <p:cNvSpPr/>
            <p:nvPr/>
          </p:nvSpPr>
          <p:spPr>
            <a:xfrm>
              <a:off x="6196997" y="4509782"/>
              <a:ext cx="1536700" cy="870688"/>
            </a:xfrm>
            <a:prstGeom prst="bevel">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dirty="0"/>
                <a:t>Prediction</a:t>
              </a:r>
            </a:p>
          </p:txBody>
        </p:sp>
        <p:cxnSp>
          <p:nvCxnSpPr>
            <p:cNvPr id="20" name="Straight Arrow Connector 19">
              <a:extLst>
                <a:ext uri="{FF2B5EF4-FFF2-40B4-BE49-F238E27FC236}">
                  <a16:creationId xmlns:a16="http://schemas.microsoft.com/office/drawing/2014/main" id="{A0DDF68F-AAEE-1917-8DD2-70F207A74C12}"/>
                </a:ext>
              </a:extLst>
            </p:cNvPr>
            <p:cNvCxnSpPr>
              <a:stCxn id="12" idx="4"/>
              <a:endCxn id="14" idx="1"/>
            </p:cNvCxnSpPr>
            <p:nvPr/>
          </p:nvCxnSpPr>
          <p:spPr>
            <a:xfrm>
              <a:off x="2565400" y="3157180"/>
              <a:ext cx="9779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6735A356-551C-F717-4E87-C41FAFFD9A3E}"/>
                </a:ext>
              </a:extLst>
            </p:cNvPr>
            <p:cNvCxnSpPr>
              <a:stCxn id="13" idx="4"/>
              <a:endCxn id="15" idx="2"/>
            </p:cNvCxnSpPr>
            <p:nvPr/>
          </p:nvCxnSpPr>
          <p:spPr>
            <a:xfrm flipV="1">
              <a:off x="2565400" y="4932726"/>
              <a:ext cx="1244600" cy="1269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33AD85CA-F5A0-C3FC-21FF-3CF5B90CA0C5}"/>
                </a:ext>
              </a:extLst>
            </p:cNvPr>
            <p:cNvCxnSpPr>
              <a:stCxn id="15" idx="4"/>
              <a:endCxn id="18" idx="4"/>
            </p:cNvCxnSpPr>
            <p:nvPr/>
          </p:nvCxnSpPr>
          <p:spPr>
            <a:xfrm>
              <a:off x="5524500" y="4932726"/>
              <a:ext cx="673100" cy="1269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E93989AC-04A7-93D5-34A7-C1BC3EC03EF8}"/>
                </a:ext>
              </a:extLst>
            </p:cNvPr>
            <p:cNvCxnSpPr>
              <a:stCxn id="0" idx="2"/>
              <a:endCxn id="0" idx="0"/>
            </p:cNvCxnSpPr>
            <p:nvPr/>
          </p:nvCxnSpPr>
          <p:spPr>
            <a:xfrm>
              <a:off x="4870450" y="3631611"/>
              <a:ext cx="23813" cy="733068"/>
            </a:xfrm>
            <a:prstGeom prst="straightConnector1">
              <a:avLst/>
            </a:prstGeom>
            <a:ln w="38100" cmpd="sng">
              <a:tailEnd type="arrow"/>
            </a:ln>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F7373037-F75F-2A4E-F111-89B4E9562545}"/>
                </a:ext>
              </a:extLst>
            </p:cNvPr>
            <p:cNvCxnSpPr/>
            <p:nvPr/>
          </p:nvCxnSpPr>
          <p:spPr>
            <a:xfrm flipV="1">
              <a:off x="457200" y="3999731"/>
              <a:ext cx="8496300" cy="38081"/>
            </a:xfrm>
            <a:prstGeom prst="line">
              <a:avLst/>
            </a:prstGeom>
          </p:spPr>
          <p:style>
            <a:lnRef idx="2">
              <a:schemeClr val="accent1"/>
            </a:lnRef>
            <a:fillRef idx="0">
              <a:schemeClr val="accent1"/>
            </a:fillRef>
            <a:effectRef idx="1">
              <a:schemeClr val="accent1"/>
            </a:effectRef>
            <a:fontRef idx="minor">
              <a:schemeClr val="tx1"/>
            </a:fontRef>
          </p:style>
        </p:cxnSp>
        <p:sp>
          <p:nvSpPr>
            <p:cNvPr id="7194" name="TextBox 44">
              <a:extLst>
                <a:ext uri="{FF2B5EF4-FFF2-40B4-BE49-F238E27FC236}">
                  <a16:creationId xmlns:a16="http://schemas.microsoft.com/office/drawing/2014/main" id="{2914825D-DC1B-9A6D-9FEB-64E90D190AE3}"/>
                </a:ext>
              </a:extLst>
            </p:cNvPr>
            <p:cNvSpPr txBox="1">
              <a:spLocks noChangeArrowheads="1"/>
            </p:cNvSpPr>
            <p:nvPr/>
          </p:nvSpPr>
          <p:spPr bwMode="auto">
            <a:xfrm>
              <a:off x="457200" y="3702446"/>
              <a:ext cx="9520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sz="1600" b="1">
                  <a:solidFill>
                    <a:schemeClr val="accent2"/>
                  </a:solidFill>
                </a:rPr>
                <a:t>Training</a:t>
              </a:r>
            </a:p>
          </p:txBody>
        </p:sp>
        <p:sp>
          <p:nvSpPr>
            <p:cNvPr id="7195" name="TextBox 45">
              <a:extLst>
                <a:ext uri="{FF2B5EF4-FFF2-40B4-BE49-F238E27FC236}">
                  <a16:creationId xmlns:a16="http://schemas.microsoft.com/office/drawing/2014/main" id="{C16A2A64-B8A1-E227-3F7B-18C2C691A456}"/>
                </a:ext>
              </a:extLst>
            </p:cNvPr>
            <p:cNvSpPr txBox="1">
              <a:spLocks noChangeArrowheads="1"/>
            </p:cNvSpPr>
            <p:nvPr/>
          </p:nvSpPr>
          <p:spPr bwMode="auto">
            <a:xfrm>
              <a:off x="457200" y="4025900"/>
              <a:ext cx="11777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sz="1600" b="1">
                  <a:solidFill>
                    <a:schemeClr val="accent2"/>
                  </a:solidFill>
                </a:rPr>
                <a:t>Prediction</a:t>
              </a:r>
            </a:p>
          </p:txBody>
        </p:sp>
      </p:grpSp>
      <p:sp>
        <p:nvSpPr>
          <p:cNvPr id="7173" name="Title 1">
            <a:extLst>
              <a:ext uri="{FF2B5EF4-FFF2-40B4-BE49-F238E27FC236}">
                <a16:creationId xmlns:a16="http://schemas.microsoft.com/office/drawing/2014/main" id="{F38C450D-5CAC-2F3A-ADD2-23C85CAAA09F}"/>
              </a:ext>
            </a:extLst>
          </p:cNvPr>
          <p:cNvSpPr txBox="1">
            <a:spLocks/>
          </p:cNvSpPr>
          <p:nvPr/>
        </p:nvSpPr>
        <p:spPr bwMode="auto">
          <a:xfrm>
            <a:off x="2074864" y="182564"/>
            <a:ext cx="8042275"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4800" dirty="0">
                <a:solidFill>
                  <a:srgbClr val="262626"/>
                </a:solidFill>
                <a:latin typeface="Book Antiqua" panose="02040602050305030304" pitchFamily="18" charset="0"/>
              </a:rPr>
              <a:t>Machine Learning Basics</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26">
            <a:extLst>
              <a:ext uri="{FF2B5EF4-FFF2-40B4-BE49-F238E27FC236}">
                <a16:creationId xmlns:a16="http://schemas.microsoft.com/office/drawing/2014/main" id="{002B0BD0-6A6D-842F-7A69-18B8B49B21D3}"/>
              </a:ext>
            </a:extLst>
          </p:cNvPr>
          <p:cNvGrpSpPr>
            <a:grpSpLocks/>
          </p:cNvGrpSpPr>
          <p:nvPr/>
        </p:nvGrpSpPr>
        <p:grpSpPr bwMode="auto">
          <a:xfrm>
            <a:off x="4495800" y="3797301"/>
            <a:ext cx="3124200" cy="1897907"/>
            <a:chOff x="2806700" y="3998831"/>
            <a:chExt cx="2539492" cy="1640721"/>
          </a:xfrm>
        </p:grpSpPr>
        <p:pic>
          <p:nvPicPr>
            <p:cNvPr id="8214" name="Picture 22" descr="m2.gif">
              <a:extLst>
                <a:ext uri="{FF2B5EF4-FFF2-40B4-BE49-F238E27FC236}">
                  <a16:creationId xmlns:a16="http://schemas.microsoft.com/office/drawing/2014/main" id="{3C614D17-4B55-3CA4-8DA7-F7ED5B113B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806700" y="3998831"/>
              <a:ext cx="2539492" cy="145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15" name="TextBox 23">
              <a:extLst>
                <a:ext uri="{FF2B5EF4-FFF2-40B4-BE49-F238E27FC236}">
                  <a16:creationId xmlns:a16="http://schemas.microsoft.com/office/drawing/2014/main" id="{D1DEAC4E-EDEE-220A-7EF5-D366349DBAE6}"/>
                </a:ext>
              </a:extLst>
            </p:cNvPr>
            <p:cNvSpPr txBox="1">
              <a:spLocks noChangeArrowheads="1"/>
            </p:cNvSpPr>
            <p:nvPr/>
          </p:nvSpPr>
          <p:spPr bwMode="auto">
            <a:xfrm>
              <a:off x="3566292" y="5320268"/>
              <a:ext cx="1111714" cy="319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Regression</a:t>
              </a:r>
            </a:p>
          </p:txBody>
        </p:sp>
      </p:grpSp>
      <p:sp>
        <p:nvSpPr>
          <p:cNvPr id="5" name="TextBox 4">
            <a:extLst>
              <a:ext uri="{FF2B5EF4-FFF2-40B4-BE49-F238E27FC236}">
                <a16:creationId xmlns:a16="http://schemas.microsoft.com/office/drawing/2014/main" id="{C91556E2-958D-5D83-B897-BAD56CFAAD52}"/>
              </a:ext>
            </a:extLst>
          </p:cNvPr>
          <p:cNvSpPr txBox="1"/>
          <p:nvPr/>
        </p:nvSpPr>
        <p:spPr>
          <a:xfrm>
            <a:off x="2317750" y="1338263"/>
            <a:ext cx="7015062" cy="2308324"/>
          </a:xfrm>
          <a:prstGeom prst="rect">
            <a:avLst/>
          </a:prstGeom>
          <a:noFill/>
        </p:spPr>
        <p:txBody>
          <a:bodyPr wrap="none">
            <a:spAutoFit/>
          </a:bodyPr>
          <a:lstStyle/>
          <a:p>
            <a:pPr>
              <a:defRPr/>
            </a:pPr>
            <a:r>
              <a:rPr lang="en-US" b="1" dirty="0"/>
              <a:t>Supervised</a:t>
            </a:r>
            <a:r>
              <a:rPr lang="en-US" dirty="0"/>
              <a:t>: Learning with a </a:t>
            </a:r>
            <a:r>
              <a:rPr lang="en-US" b="1" dirty="0">
                <a:solidFill>
                  <a:srgbClr val="E68230"/>
                </a:solidFill>
              </a:rPr>
              <a:t>labeled training</a:t>
            </a:r>
            <a:r>
              <a:rPr lang="en-US" dirty="0"/>
              <a:t> set</a:t>
            </a:r>
          </a:p>
          <a:p>
            <a:pPr>
              <a:defRPr/>
            </a:pPr>
            <a:r>
              <a:rPr lang="en-US" dirty="0"/>
              <a:t>Example: email </a:t>
            </a:r>
            <a:r>
              <a:rPr lang="en-US" i="1" dirty="0">
                <a:solidFill>
                  <a:schemeClr val="accent2">
                    <a:lumMod val="75000"/>
                  </a:schemeClr>
                </a:solidFill>
              </a:rPr>
              <a:t>classification</a:t>
            </a:r>
            <a:r>
              <a:rPr lang="en-US" dirty="0">
                <a:solidFill>
                  <a:schemeClr val="accent2">
                    <a:lumMod val="75000"/>
                  </a:schemeClr>
                </a:solidFill>
              </a:rPr>
              <a:t> </a:t>
            </a:r>
            <a:r>
              <a:rPr lang="en-US" dirty="0"/>
              <a:t>with already labeled emails</a:t>
            </a:r>
          </a:p>
          <a:p>
            <a:pPr>
              <a:defRPr/>
            </a:pPr>
            <a:endParaRPr lang="en-US" dirty="0"/>
          </a:p>
          <a:p>
            <a:pPr>
              <a:defRPr/>
            </a:pPr>
            <a:r>
              <a:rPr lang="en-US" b="1" dirty="0"/>
              <a:t>Unsupervised</a:t>
            </a:r>
            <a:r>
              <a:rPr lang="en-US" dirty="0"/>
              <a:t>: Discover </a:t>
            </a:r>
            <a:r>
              <a:rPr lang="en-US" b="1" dirty="0">
                <a:solidFill>
                  <a:srgbClr val="E68230"/>
                </a:solidFill>
              </a:rPr>
              <a:t>patterns</a:t>
            </a:r>
            <a:r>
              <a:rPr lang="en-US" dirty="0"/>
              <a:t> in </a:t>
            </a:r>
            <a:r>
              <a:rPr lang="en-US" b="1" dirty="0">
                <a:solidFill>
                  <a:srgbClr val="E68230"/>
                </a:solidFill>
              </a:rPr>
              <a:t>unlabeled</a:t>
            </a:r>
            <a:r>
              <a:rPr lang="en-US" dirty="0"/>
              <a:t> data</a:t>
            </a:r>
          </a:p>
          <a:p>
            <a:pPr>
              <a:defRPr/>
            </a:pPr>
            <a:r>
              <a:rPr lang="en-US" dirty="0"/>
              <a:t>Example: </a:t>
            </a:r>
            <a:r>
              <a:rPr lang="en-US" i="1" dirty="0">
                <a:solidFill>
                  <a:srgbClr val="BA6016"/>
                </a:solidFill>
              </a:rPr>
              <a:t>cluster</a:t>
            </a:r>
            <a:r>
              <a:rPr lang="en-US" dirty="0">
                <a:solidFill>
                  <a:srgbClr val="BA6016"/>
                </a:solidFill>
              </a:rPr>
              <a:t> </a:t>
            </a:r>
            <a:r>
              <a:rPr lang="en-US" dirty="0"/>
              <a:t>similar documents based on text</a:t>
            </a:r>
          </a:p>
          <a:p>
            <a:pPr>
              <a:defRPr/>
            </a:pPr>
            <a:endParaRPr lang="en-US" dirty="0"/>
          </a:p>
          <a:p>
            <a:pPr>
              <a:defRPr/>
            </a:pPr>
            <a:r>
              <a:rPr lang="en-US" b="1" dirty="0"/>
              <a:t>Reinforcement learning</a:t>
            </a:r>
            <a:r>
              <a:rPr lang="en-US" dirty="0"/>
              <a:t>: learn to </a:t>
            </a:r>
            <a:r>
              <a:rPr lang="en-US" b="1" dirty="0">
                <a:solidFill>
                  <a:schemeClr val="accent2"/>
                </a:solidFill>
              </a:rPr>
              <a:t>act</a:t>
            </a:r>
            <a:r>
              <a:rPr lang="en-US" dirty="0"/>
              <a:t> based on </a:t>
            </a:r>
            <a:r>
              <a:rPr lang="en-US" b="1" dirty="0">
                <a:solidFill>
                  <a:srgbClr val="E68230"/>
                </a:solidFill>
              </a:rPr>
              <a:t>feedback/reward</a:t>
            </a:r>
          </a:p>
          <a:p>
            <a:pPr>
              <a:defRPr/>
            </a:pPr>
            <a:r>
              <a:rPr lang="en-US" dirty="0"/>
              <a:t>Example: learn to play Go, reward: </a:t>
            </a:r>
            <a:r>
              <a:rPr lang="en-US" i="1" dirty="0">
                <a:solidFill>
                  <a:srgbClr val="BA6016"/>
                </a:solidFill>
              </a:rPr>
              <a:t>win or lose </a:t>
            </a:r>
          </a:p>
        </p:txBody>
      </p:sp>
      <p:sp>
        <p:nvSpPr>
          <p:cNvPr id="8196" name="Title 1">
            <a:extLst>
              <a:ext uri="{FF2B5EF4-FFF2-40B4-BE49-F238E27FC236}">
                <a16:creationId xmlns:a16="http://schemas.microsoft.com/office/drawing/2014/main" id="{9A37835D-4617-E139-8BD9-42282C57B932}"/>
              </a:ext>
            </a:extLst>
          </p:cNvPr>
          <p:cNvSpPr txBox="1">
            <a:spLocks/>
          </p:cNvSpPr>
          <p:nvPr/>
        </p:nvSpPr>
        <p:spPr bwMode="auto">
          <a:xfrm>
            <a:off x="2074864" y="182564"/>
            <a:ext cx="8042275" cy="85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4800">
                <a:solidFill>
                  <a:srgbClr val="262626"/>
                </a:solidFill>
                <a:latin typeface="Book Antiqua" panose="02040602050305030304" pitchFamily="18" charset="0"/>
              </a:rPr>
              <a:t>Types of Learning</a:t>
            </a:r>
          </a:p>
        </p:txBody>
      </p:sp>
      <p:grpSp>
        <p:nvGrpSpPr>
          <p:cNvPr id="8197" name="Group 20">
            <a:extLst>
              <a:ext uri="{FF2B5EF4-FFF2-40B4-BE49-F238E27FC236}">
                <a16:creationId xmlns:a16="http://schemas.microsoft.com/office/drawing/2014/main" id="{C224AC47-CF92-DFD3-97A3-315B1C41D366}"/>
              </a:ext>
            </a:extLst>
          </p:cNvPr>
          <p:cNvGrpSpPr>
            <a:grpSpLocks/>
          </p:cNvGrpSpPr>
          <p:nvPr/>
        </p:nvGrpSpPr>
        <p:grpSpPr bwMode="auto">
          <a:xfrm>
            <a:off x="2082800" y="4140200"/>
            <a:ext cx="2006600" cy="1549400"/>
            <a:chOff x="393134" y="4140200"/>
            <a:chExt cx="2007166" cy="1549400"/>
          </a:xfrm>
        </p:grpSpPr>
        <p:pic>
          <p:nvPicPr>
            <p:cNvPr id="8205" name="Picture 11">
              <a:extLst>
                <a:ext uri="{FF2B5EF4-FFF2-40B4-BE49-F238E27FC236}">
                  <a16:creationId xmlns:a16="http://schemas.microsoft.com/office/drawing/2014/main" id="{F79115BD-11BF-91EE-4E25-D30835D6C71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3134" y="4140200"/>
              <a:ext cx="8001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32EE8341-A0CD-2A92-D776-96AAE1A92A12}"/>
                </a:ext>
              </a:extLst>
            </p:cNvPr>
            <p:cNvSpPr/>
            <p:nvPr/>
          </p:nvSpPr>
          <p:spPr>
            <a:xfrm>
              <a:off x="1587500" y="4229100"/>
              <a:ext cx="812800" cy="342900"/>
            </a:xfrm>
            <a:prstGeom prst="rect">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sz="1400" dirty="0"/>
                <a:t>class A</a:t>
              </a:r>
            </a:p>
          </p:txBody>
        </p:sp>
        <p:sp>
          <p:nvSpPr>
            <p:cNvPr id="14" name="Rectangle 13">
              <a:extLst>
                <a:ext uri="{FF2B5EF4-FFF2-40B4-BE49-F238E27FC236}">
                  <a16:creationId xmlns:a16="http://schemas.microsoft.com/office/drawing/2014/main" id="{D9B490F5-F8E1-85F2-541C-111DE6446E44}"/>
                </a:ext>
              </a:extLst>
            </p:cNvPr>
            <p:cNvSpPr/>
            <p:nvPr/>
          </p:nvSpPr>
          <p:spPr>
            <a:xfrm>
              <a:off x="1587500" y="4775200"/>
              <a:ext cx="812800" cy="342900"/>
            </a:xfrm>
            <a:prstGeom prst="rect">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1400" dirty="0"/>
                <a:t>class A</a:t>
              </a:r>
            </a:p>
          </p:txBody>
        </p:sp>
        <p:cxnSp>
          <p:nvCxnSpPr>
            <p:cNvPr id="16" name="Straight Arrow Connector 15">
              <a:extLst>
                <a:ext uri="{FF2B5EF4-FFF2-40B4-BE49-F238E27FC236}">
                  <a16:creationId xmlns:a16="http://schemas.microsoft.com/office/drawing/2014/main" id="{182AA355-5744-F5C1-D60F-66BF44A769DF}"/>
                </a:ext>
              </a:extLst>
            </p:cNvPr>
            <p:cNvCxnSpPr/>
            <p:nvPr/>
          </p:nvCxnSpPr>
          <p:spPr>
            <a:xfrm>
              <a:off x="1193460" y="4660900"/>
              <a:ext cx="322354" cy="0"/>
            </a:xfrm>
            <a:prstGeom prst="straightConnector1">
              <a:avLst/>
            </a:prstGeom>
            <a:ln w="38100" cmpd="sng">
              <a:solidFill>
                <a:srgbClr val="4F81BD"/>
              </a:solidFill>
              <a:tailEnd type="arrow"/>
            </a:ln>
          </p:spPr>
          <p:style>
            <a:lnRef idx="2">
              <a:schemeClr val="accent5"/>
            </a:lnRef>
            <a:fillRef idx="0">
              <a:schemeClr val="accent5"/>
            </a:fillRef>
            <a:effectRef idx="1">
              <a:schemeClr val="accent5"/>
            </a:effectRef>
            <a:fontRef idx="minor">
              <a:schemeClr val="tx1"/>
            </a:fontRef>
          </p:style>
        </p:cxnSp>
        <p:sp>
          <p:nvSpPr>
            <p:cNvPr id="8213" name="TextBox 19">
              <a:extLst>
                <a:ext uri="{FF2B5EF4-FFF2-40B4-BE49-F238E27FC236}">
                  <a16:creationId xmlns:a16="http://schemas.microsoft.com/office/drawing/2014/main" id="{0742B6B9-BBB7-441B-1086-792955922142}"/>
                </a:ext>
              </a:extLst>
            </p:cNvPr>
            <p:cNvSpPr txBox="1">
              <a:spLocks noChangeArrowheads="1"/>
            </p:cNvSpPr>
            <p:nvPr/>
          </p:nvSpPr>
          <p:spPr bwMode="auto">
            <a:xfrm>
              <a:off x="693644" y="5320268"/>
              <a:ext cx="16437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Classification</a:t>
              </a:r>
            </a:p>
          </p:txBody>
        </p:sp>
      </p:grpSp>
      <p:sp>
        <p:nvSpPr>
          <p:cNvPr id="8198" name="TextBox 24">
            <a:extLst>
              <a:ext uri="{FF2B5EF4-FFF2-40B4-BE49-F238E27FC236}">
                <a16:creationId xmlns:a16="http://schemas.microsoft.com/office/drawing/2014/main" id="{4B27B22C-59D0-6248-A2DC-934EB0D8339B}"/>
              </a:ext>
            </a:extLst>
          </p:cNvPr>
          <p:cNvSpPr txBox="1">
            <a:spLocks noChangeArrowheads="1"/>
          </p:cNvSpPr>
          <p:nvPr/>
        </p:nvSpPr>
        <p:spPr bwMode="auto">
          <a:xfrm>
            <a:off x="2101850" y="5797551"/>
            <a:ext cx="23701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Anomaly Detection</a:t>
            </a:r>
          </a:p>
          <a:p>
            <a:r>
              <a:rPr lang="en-US" altLang="en-US"/>
              <a:t>Sequence labeling</a:t>
            </a:r>
          </a:p>
          <a:p>
            <a:r>
              <a:rPr lang="mr-IN" altLang="en-US">
                <a:cs typeface="Mangal" panose="02040503050203030202" pitchFamily="18" charset="0"/>
              </a:rPr>
              <a:t>…</a:t>
            </a:r>
            <a:endParaRPr lang="en-US" altLang="en-US"/>
          </a:p>
        </p:txBody>
      </p:sp>
      <p:grpSp>
        <p:nvGrpSpPr>
          <p:cNvPr id="8199" name="Group 30">
            <a:extLst>
              <a:ext uri="{FF2B5EF4-FFF2-40B4-BE49-F238E27FC236}">
                <a16:creationId xmlns:a16="http://schemas.microsoft.com/office/drawing/2014/main" id="{1E40429B-8EA7-F2C9-F20B-BD8D7DFE0352}"/>
              </a:ext>
            </a:extLst>
          </p:cNvPr>
          <p:cNvGrpSpPr>
            <a:grpSpLocks/>
          </p:cNvGrpSpPr>
          <p:nvPr/>
        </p:nvGrpSpPr>
        <p:grpSpPr bwMode="auto">
          <a:xfrm>
            <a:off x="7802564" y="4070350"/>
            <a:ext cx="2670175" cy="1619250"/>
            <a:chOff x="5635074" y="4070350"/>
            <a:chExt cx="2670726" cy="1619250"/>
          </a:xfrm>
        </p:grpSpPr>
        <p:pic>
          <p:nvPicPr>
            <p:cNvPr id="8201" name="Picture 25" descr="220px-Cluster-2.svg.png">
              <a:extLst>
                <a:ext uri="{FF2B5EF4-FFF2-40B4-BE49-F238E27FC236}">
                  <a16:creationId xmlns:a16="http://schemas.microsoft.com/office/drawing/2014/main" id="{1F0A98EC-2551-A14B-2B41-D2D9552D821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35174" y="4070350"/>
              <a:ext cx="1870626" cy="1249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2" name="Picture 27">
              <a:extLst>
                <a:ext uri="{FF2B5EF4-FFF2-40B4-BE49-F238E27FC236}">
                  <a16:creationId xmlns:a16="http://schemas.microsoft.com/office/drawing/2014/main" id="{F360A894-8C67-4F21-2FDE-C1386979CB6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635074" y="4140200"/>
              <a:ext cx="8001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9" name="Straight Arrow Connector 28">
              <a:extLst>
                <a:ext uri="{FF2B5EF4-FFF2-40B4-BE49-F238E27FC236}">
                  <a16:creationId xmlns:a16="http://schemas.microsoft.com/office/drawing/2014/main" id="{B2500E07-6F94-D148-254A-156D66D575E1}"/>
                </a:ext>
              </a:extLst>
            </p:cNvPr>
            <p:cNvCxnSpPr/>
            <p:nvPr/>
          </p:nvCxnSpPr>
          <p:spPr>
            <a:xfrm>
              <a:off x="6435339" y="4660900"/>
              <a:ext cx="322328" cy="0"/>
            </a:xfrm>
            <a:prstGeom prst="straightConnector1">
              <a:avLst/>
            </a:prstGeom>
            <a:ln w="38100" cmpd="sng">
              <a:solidFill>
                <a:srgbClr val="4F81BD"/>
              </a:solidFill>
              <a:tailEnd type="arrow"/>
            </a:ln>
          </p:spPr>
          <p:style>
            <a:lnRef idx="2">
              <a:schemeClr val="accent5"/>
            </a:lnRef>
            <a:fillRef idx="0">
              <a:schemeClr val="accent5"/>
            </a:fillRef>
            <a:effectRef idx="1">
              <a:schemeClr val="accent5"/>
            </a:effectRef>
            <a:fontRef idx="minor">
              <a:schemeClr val="tx1"/>
            </a:fontRef>
          </p:style>
        </p:cxnSp>
        <p:sp>
          <p:nvSpPr>
            <p:cNvPr id="8204" name="TextBox 29">
              <a:extLst>
                <a:ext uri="{FF2B5EF4-FFF2-40B4-BE49-F238E27FC236}">
                  <a16:creationId xmlns:a16="http://schemas.microsoft.com/office/drawing/2014/main" id="{030414B3-676E-9F29-B9AE-27FF00BF21C3}"/>
                </a:ext>
              </a:extLst>
            </p:cNvPr>
            <p:cNvSpPr txBox="1">
              <a:spLocks noChangeArrowheads="1"/>
            </p:cNvSpPr>
            <p:nvPr/>
          </p:nvSpPr>
          <p:spPr bwMode="auto">
            <a:xfrm>
              <a:off x="6113217" y="5320268"/>
              <a:ext cx="12884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Clustering</a:t>
              </a:r>
            </a:p>
          </p:txBody>
        </p:sp>
      </p:grpSp>
      <p:sp>
        <p:nvSpPr>
          <p:cNvPr id="8200" name="Ορθογώνιο 1">
            <a:extLst>
              <a:ext uri="{FF2B5EF4-FFF2-40B4-BE49-F238E27FC236}">
                <a16:creationId xmlns:a16="http://schemas.microsoft.com/office/drawing/2014/main" id="{E1F18B3C-0001-880C-2DDA-3B54995DF6B5}"/>
              </a:ext>
            </a:extLst>
          </p:cNvPr>
          <p:cNvSpPr>
            <a:spLocks noChangeArrowheads="1"/>
          </p:cNvSpPr>
          <p:nvPr/>
        </p:nvSpPr>
        <p:spPr bwMode="auto">
          <a:xfrm>
            <a:off x="5900738" y="6338889"/>
            <a:ext cx="45720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r"/>
            <a:r>
              <a:rPr lang="en-US" altLang="en-US" sz="900" i="1"/>
              <a:t>http://mbjoseph.github.io/2013/11/27/measure.html</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6E281-3303-5AE1-EBE1-F501BB70A277}"/>
              </a:ext>
            </a:extLst>
          </p:cNvPr>
          <p:cNvSpPr>
            <a:spLocks noGrp="1"/>
          </p:cNvSpPr>
          <p:nvPr>
            <p:ph type="title"/>
          </p:nvPr>
        </p:nvSpPr>
        <p:spPr/>
        <p:txBody>
          <a:bodyPr/>
          <a:lstStyle/>
          <a:p>
            <a:r>
              <a:rPr lang="en-IN" dirty="0"/>
              <a:t>Neural Network</a:t>
            </a:r>
          </a:p>
        </p:txBody>
      </p:sp>
      <p:sp>
        <p:nvSpPr>
          <p:cNvPr id="3" name="Content Placeholder 2">
            <a:extLst>
              <a:ext uri="{FF2B5EF4-FFF2-40B4-BE49-F238E27FC236}">
                <a16:creationId xmlns:a16="http://schemas.microsoft.com/office/drawing/2014/main" id="{EC6B599D-9AAC-7ADF-345A-A960471EA9F3}"/>
              </a:ext>
            </a:extLst>
          </p:cNvPr>
          <p:cNvSpPr>
            <a:spLocks noGrp="1"/>
          </p:cNvSpPr>
          <p:nvPr>
            <p:ph idx="1"/>
          </p:nvPr>
        </p:nvSpPr>
        <p:spPr/>
        <p:txBody>
          <a:bodyPr/>
          <a:lstStyle/>
          <a:p>
            <a:r>
              <a:rPr lang="en-US" sz="2800" dirty="0">
                <a:solidFill>
                  <a:srgbClr val="273239"/>
                </a:solidFill>
                <a:latin typeface="Nunito" pitchFamily="2" charset="0"/>
              </a:rPr>
              <a:t>Neural networks are machine learning models that mimic the complex functions of the human brain. These models consist of interconnected nodes or neurons that process data, learn patterns and enable tasks such as pattern recognition and decision-making.</a:t>
            </a:r>
            <a:endParaRPr lang="en-IN" sz="2800" dirty="0"/>
          </a:p>
          <a:p>
            <a:endParaRPr lang="en-IN" dirty="0"/>
          </a:p>
        </p:txBody>
      </p:sp>
    </p:spTree>
    <p:extLst>
      <p:ext uri="{BB962C8B-B14F-4D97-AF65-F5344CB8AC3E}">
        <p14:creationId xmlns:p14="http://schemas.microsoft.com/office/powerpoint/2010/main" val="1341397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B47DF-C767-DEFB-3C35-8A0C8A87B8E6}"/>
              </a:ext>
            </a:extLst>
          </p:cNvPr>
          <p:cNvSpPr>
            <a:spLocks noGrp="1"/>
          </p:cNvSpPr>
          <p:nvPr>
            <p:ph type="title"/>
          </p:nvPr>
        </p:nvSpPr>
        <p:spPr/>
        <p:txBody>
          <a:bodyPr/>
          <a:lstStyle/>
          <a:p>
            <a:endParaRPr lang="en-IN"/>
          </a:p>
        </p:txBody>
      </p:sp>
      <p:pic>
        <p:nvPicPr>
          <p:cNvPr id="5" name="Content Placeholder 4" descr="A diagram of an axon&#10;&#10;AI-generated content may be incorrect.">
            <a:extLst>
              <a:ext uri="{FF2B5EF4-FFF2-40B4-BE49-F238E27FC236}">
                <a16:creationId xmlns:a16="http://schemas.microsoft.com/office/drawing/2014/main" id="{CC9D548B-E6C8-5391-FCC3-D286CE006C40}"/>
              </a:ext>
            </a:extLst>
          </p:cNvPr>
          <p:cNvPicPr>
            <a:picLocks noGrp="1" noChangeAspect="1"/>
          </p:cNvPicPr>
          <p:nvPr>
            <p:ph idx="1"/>
          </p:nvPr>
        </p:nvPicPr>
        <p:blipFill>
          <a:blip r:embed="rId2"/>
          <a:stretch>
            <a:fillRect/>
          </a:stretch>
        </p:blipFill>
        <p:spPr>
          <a:xfrm>
            <a:off x="963741" y="2245675"/>
            <a:ext cx="8024555" cy="3711262"/>
          </a:xfrm>
          <a:prstGeom prst="rect">
            <a:avLst/>
          </a:prstGeom>
        </p:spPr>
      </p:pic>
    </p:spTree>
    <p:extLst>
      <p:ext uri="{BB962C8B-B14F-4D97-AF65-F5344CB8AC3E}">
        <p14:creationId xmlns:p14="http://schemas.microsoft.com/office/powerpoint/2010/main" val="44260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4BCDA-4C5B-09C8-21CD-8A9DD67A4F65}"/>
              </a:ext>
            </a:extLst>
          </p:cNvPr>
          <p:cNvSpPr>
            <a:spLocks noGrp="1"/>
          </p:cNvSpPr>
          <p:nvPr>
            <p:ph type="title"/>
          </p:nvPr>
        </p:nvSpPr>
        <p:spPr/>
        <p:txBody>
          <a:bodyPr/>
          <a:lstStyle/>
          <a:p>
            <a:r>
              <a:rPr lang="en-IN" dirty="0"/>
              <a:t>Importance</a:t>
            </a:r>
          </a:p>
        </p:txBody>
      </p:sp>
      <p:sp>
        <p:nvSpPr>
          <p:cNvPr id="3" name="Content Placeholder 2">
            <a:extLst>
              <a:ext uri="{FF2B5EF4-FFF2-40B4-BE49-F238E27FC236}">
                <a16:creationId xmlns:a16="http://schemas.microsoft.com/office/drawing/2014/main" id="{E58D734F-4D5D-BB61-6062-96BE76B9775F}"/>
              </a:ext>
            </a:extLst>
          </p:cNvPr>
          <p:cNvSpPr>
            <a:spLocks noGrp="1"/>
          </p:cNvSpPr>
          <p:nvPr>
            <p:ph idx="1"/>
          </p:nvPr>
        </p:nvSpPr>
        <p:spPr/>
        <p:txBody>
          <a:bodyPr/>
          <a:lstStyle/>
          <a:p>
            <a:pPr fontAlgn="base"/>
            <a:r>
              <a:rPr lang="en-US" b="1" dirty="0"/>
              <a:t>Identify Complex Patterns:</a:t>
            </a:r>
            <a:r>
              <a:rPr lang="en-US" dirty="0"/>
              <a:t> Recognize intricate structures and relationships in data; adapt to dynamic and changing environments.</a:t>
            </a:r>
          </a:p>
          <a:p>
            <a:pPr fontAlgn="base"/>
            <a:r>
              <a:rPr lang="en-US" b="1" dirty="0"/>
              <a:t>Learn from Data:</a:t>
            </a:r>
            <a:r>
              <a:rPr lang="en-US" dirty="0"/>
              <a:t> Handle vast datasets efficiently; improve performance with experience and retraining.</a:t>
            </a:r>
          </a:p>
          <a:p>
            <a:pPr fontAlgn="base"/>
            <a:r>
              <a:rPr lang="en-US" b="1" dirty="0"/>
              <a:t>Drive Key Technologies:</a:t>
            </a:r>
            <a:r>
              <a:rPr lang="en-US" dirty="0"/>
              <a:t> Power natural language processing (NLP); enable self-driving vehicles; support automated decision-making systems.</a:t>
            </a:r>
          </a:p>
          <a:p>
            <a:pPr fontAlgn="base"/>
            <a:r>
              <a:rPr lang="en-US" b="1" dirty="0"/>
              <a:t>Boost Efficiency:</a:t>
            </a:r>
            <a:r>
              <a:rPr lang="en-US" dirty="0"/>
              <a:t> Streamline workflows and processes; enhance productivity across industries.</a:t>
            </a:r>
          </a:p>
          <a:p>
            <a:pPr fontAlgn="base"/>
            <a:r>
              <a:rPr lang="en-US" b="1" dirty="0"/>
              <a:t>Backbone of AI:</a:t>
            </a:r>
            <a:r>
              <a:rPr lang="en-US" dirty="0"/>
              <a:t> Serve as the core driver of artificial intelligence progress; continue shaping the future of technology and innovation.</a:t>
            </a:r>
          </a:p>
          <a:p>
            <a:endParaRPr lang="en-IN" dirty="0"/>
          </a:p>
        </p:txBody>
      </p:sp>
    </p:spTree>
    <p:extLst>
      <p:ext uri="{BB962C8B-B14F-4D97-AF65-F5344CB8AC3E}">
        <p14:creationId xmlns:p14="http://schemas.microsoft.com/office/powerpoint/2010/main" val="1473750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5ABB-319B-E53B-9B5E-1CE654F21EF5}"/>
              </a:ext>
            </a:extLst>
          </p:cNvPr>
          <p:cNvSpPr>
            <a:spLocks noGrp="1"/>
          </p:cNvSpPr>
          <p:nvPr>
            <p:ph type="title"/>
          </p:nvPr>
        </p:nvSpPr>
        <p:spPr/>
        <p:txBody>
          <a:bodyPr/>
          <a:lstStyle/>
          <a:p>
            <a:pPr algn="ctr"/>
            <a:r>
              <a:rPr lang="en-IN" dirty="0"/>
              <a:t>Layers</a:t>
            </a:r>
          </a:p>
        </p:txBody>
      </p:sp>
      <p:pic>
        <p:nvPicPr>
          <p:cNvPr id="5" name="Content Placeholder 4" descr="A diagram of a network structure&#10;&#10;AI-generated content may be incorrect.">
            <a:extLst>
              <a:ext uri="{FF2B5EF4-FFF2-40B4-BE49-F238E27FC236}">
                <a16:creationId xmlns:a16="http://schemas.microsoft.com/office/drawing/2014/main" id="{D6EC7CB0-4BBB-6367-4F1E-CAB60876CA38}"/>
              </a:ext>
            </a:extLst>
          </p:cNvPr>
          <p:cNvPicPr>
            <a:picLocks noGrp="1" noChangeAspect="1"/>
          </p:cNvPicPr>
          <p:nvPr>
            <p:ph idx="1"/>
          </p:nvPr>
        </p:nvPicPr>
        <p:blipFill>
          <a:blip r:embed="rId2"/>
          <a:stretch>
            <a:fillRect/>
          </a:stretch>
        </p:blipFill>
        <p:spPr>
          <a:xfrm>
            <a:off x="1043758" y="2394278"/>
            <a:ext cx="7864522" cy="3414056"/>
          </a:xfrm>
          <a:prstGeom prst="rect">
            <a:avLst/>
          </a:prstGeom>
        </p:spPr>
      </p:pic>
    </p:spTree>
    <p:extLst>
      <p:ext uri="{BB962C8B-B14F-4D97-AF65-F5344CB8AC3E}">
        <p14:creationId xmlns:p14="http://schemas.microsoft.com/office/powerpoint/2010/main" val="1560802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5A9EA-A48D-87E3-643B-147EABCD971D}"/>
              </a:ext>
            </a:extLst>
          </p:cNvPr>
          <p:cNvSpPr>
            <a:spLocks noGrp="1"/>
          </p:cNvSpPr>
          <p:nvPr>
            <p:ph type="title"/>
          </p:nvPr>
        </p:nvSpPr>
        <p:spPr/>
        <p:txBody>
          <a:bodyPr>
            <a:normAutofit/>
          </a:bodyPr>
          <a:lstStyle/>
          <a:p>
            <a:pPr fontAlgn="base"/>
            <a:r>
              <a:rPr lang="en-IN" sz="2000" dirty="0"/>
              <a:t>Spam Mail classification with Input Vector-</a:t>
            </a:r>
            <a:r>
              <a:rPr lang="en-IN" sz="2000" b="1" dirty="0"/>
              <a:t> [1,0,1]-Weights:</a:t>
            </a:r>
            <a:br>
              <a:rPr lang="en-IN" sz="2000" dirty="0"/>
            </a:br>
            <a:r>
              <a:rPr lang="en-IN" sz="2000" dirty="0"/>
              <a:t>Neuron H1: [0.5,−0.2,0.3]</a:t>
            </a:r>
            <a:br>
              <a:rPr lang="en-IN" sz="2000" dirty="0"/>
            </a:br>
            <a:r>
              <a:rPr lang="en-IN" sz="2000" dirty="0"/>
              <a:t>Neuron H2: [0.4,0.1,−0.5]</a:t>
            </a:r>
            <a:br>
              <a:rPr lang="en-IN" sz="2000" dirty="0"/>
            </a:br>
            <a:endParaRPr lang="en-IN" sz="2000" dirty="0"/>
          </a:p>
        </p:txBody>
      </p:sp>
      <p:pic>
        <p:nvPicPr>
          <p:cNvPr id="5" name="Content Placeholder 4" descr="A diagram of a neuron&#10;&#10;AI-generated content may be incorrect.">
            <a:extLst>
              <a:ext uri="{FF2B5EF4-FFF2-40B4-BE49-F238E27FC236}">
                <a16:creationId xmlns:a16="http://schemas.microsoft.com/office/drawing/2014/main" id="{68AB661B-5475-96A0-B327-0DC63133C271}"/>
              </a:ext>
            </a:extLst>
          </p:cNvPr>
          <p:cNvPicPr>
            <a:picLocks noGrp="1" noChangeAspect="1"/>
          </p:cNvPicPr>
          <p:nvPr>
            <p:ph idx="1"/>
          </p:nvPr>
        </p:nvPicPr>
        <p:blipFill>
          <a:blip r:embed="rId2"/>
          <a:stretch>
            <a:fillRect/>
          </a:stretch>
        </p:blipFill>
        <p:spPr>
          <a:xfrm>
            <a:off x="1511559" y="2326910"/>
            <a:ext cx="7253657" cy="3715115"/>
          </a:xfrm>
          <a:prstGeom prst="rect">
            <a:avLst/>
          </a:prstGeom>
        </p:spPr>
      </p:pic>
    </p:spTree>
    <p:extLst>
      <p:ext uri="{BB962C8B-B14F-4D97-AF65-F5344CB8AC3E}">
        <p14:creationId xmlns:p14="http://schemas.microsoft.com/office/powerpoint/2010/main" val="4276020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5A01B-82FA-283F-E758-45343209CF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783373-4419-1DCD-5322-BEEDD87CF83A}"/>
              </a:ext>
            </a:extLst>
          </p:cNvPr>
          <p:cNvSpPr>
            <a:spLocks noGrp="1"/>
          </p:cNvSpPr>
          <p:nvPr>
            <p:ph idx="1"/>
          </p:nvPr>
        </p:nvSpPr>
        <p:spPr/>
        <p:txBody>
          <a:bodyPr>
            <a:normAutofit fontScale="92500" lnSpcReduction="10000"/>
          </a:bodyPr>
          <a:lstStyle/>
          <a:p>
            <a:pPr fontAlgn="base"/>
            <a:r>
              <a:rPr lang="en-IN" b="1" dirty="0"/>
              <a:t>Input Vector: [1,0,1]</a:t>
            </a:r>
            <a:endParaRPr lang="en-IN" dirty="0"/>
          </a:p>
          <a:p>
            <a:pPr fontAlgn="base"/>
            <a:r>
              <a:rPr lang="en-IN" b="1" dirty="0"/>
              <a:t>Weighted Sum Calculation</a:t>
            </a:r>
            <a:endParaRPr lang="en-IN" dirty="0"/>
          </a:p>
          <a:p>
            <a:pPr fontAlgn="base"/>
            <a:r>
              <a:rPr lang="en-IN" b="1" dirty="0"/>
              <a:t>For H1: (</a:t>
            </a:r>
            <a:r>
              <a:rPr lang="en-IN" dirty="0"/>
              <a:t>1×0.5)+(0×−0.2)+(1×0.3)=0.5+0+0.3=0.8</a:t>
            </a:r>
          </a:p>
          <a:p>
            <a:pPr fontAlgn="base"/>
            <a:r>
              <a:rPr lang="en-IN" b="1" dirty="0"/>
              <a:t>For H2: </a:t>
            </a:r>
            <a:r>
              <a:rPr lang="en-IN" dirty="0"/>
              <a:t>(1×0.4)+(0×0.1)+(1×−0.5)=0.4+0−0.5=−0.1</a:t>
            </a:r>
          </a:p>
          <a:p>
            <a:pPr fontAlgn="base"/>
            <a:r>
              <a:rPr lang="en-IN" b="1" dirty="0"/>
              <a:t>Activation Function</a:t>
            </a:r>
            <a:endParaRPr lang="en-IN" dirty="0"/>
          </a:p>
          <a:p>
            <a:pPr fontAlgn="base"/>
            <a:r>
              <a:rPr lang="en-IN" dirty="0"/>
              <a:t>Here we will use </a:t>
            </a:r>
            <a:r>
              <a:rPr lang="en-IN" u="sng" dirty="0" err="1">
                <a:hlinkClick r:id="rId2"/>
              </a:rPr>
              <a:t>ReLu</a:t>
            </a:r>
            <a:r>
              <a:rPr lang="en-IN" u="sng" dirty="0">
                <a:hlinkClick r:id="rId2"/>
              </a:rPr>
              <a:t> activation function</a:t>
            </a:r>
            <a:r>
              <a:rPr lang="en-IN" dirty="0"/>
              <a:t>:</a:t>
            </a:r>
          </a:p>
          <a:p>
            <a:pPr fontAlgn="base"/>
            <a:r>
              <a:rPr lang="en-IN" b="1" dirty="0"/>
              <a:t>H1 Output:</a:t>
            </a:r>
            <a:r>
              <a:rPr lang="en-IN" dirty="0"/>
              <a:t> </a:t>
            </a:r>
            <a:r>
              <a:rPr lang="en-IN" dirty="0" err="1"/>
              <a:t>ReLU</a:t>
            </a:r>
            <a:r>
              <a:rPr lang="en-IN" dirty="0"/>
              <a:t>(0.8)= 0.8</a:t>
            </a:r>
          </a:p>
          <a:p>
            <a:pPr fontAlgn="base"/>
            <a:r>
              <a:rPr lang="en-IN" b="1" dirty="0"/>
              <a:t>H2 Output:</a:t>
            </a:r>
            <a:r>
              <a:rPr lang="en-IN" dirty="0"/>
              <a:t> </a:t>
            </a:r>
            <a:r>
              <a:rPr lang="en-IN" dirty="0" err="1"/>
              <a:t>ReLu</a:t>
            </a:r>
            <a:r>
              <a:rPr lang="en-IN" dirty="0"/>
              <a:t>(-0.1) = 0</a:t>
            </a:r>
          </a:p>
          <a:p>
            <a:pPr fontAlgn="base"/>
            <a:r>
              <a:rPr lang="en-IN" b="1" dirty="0"/>
              <a:t>3. Output Layer: </a:t>
            </a:r>
            <a:r>
              <a:rPr lang="en-IN" dirty="0"/>
              <a:t>The activated values from the hidden neurons are sent to the output neuron where they are again processed using a weighted sum and an activation function.</a:t>
            </a:r>
          </a:p>
          <a:p>
            <a:endParaRPr lang="en-IN" dirty="0"/>
          </a:p>
        </p:txBody>
      </p:sp>
    </p:spTree>
    <p:extLst>
      <p:ext uri="{BB962C8B-B14F-4D97-AF65-F5344CB8AC3E}">
        <p14:creationId xmlns:p14="http://schemas.microsoft.com/office/powerpoint/2010/main" val="3802538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F8A5F-4D6F-0FDF-8DF1-7826AD4C1CC3}"/>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069613-2DA8-1061-4E21-F0A6352134F8}"/>
                  </a:ext>
                </a:extLst>
              </p:cNvPr>
              <p:cNvSpPr>
                <a:spLocks noGrp="1"/>
              </p:cNvSpPr>
              <p:nvPr>
                <p:ph idx="1"/>
              </p:nvPr>
            </p:nvSpPr>
            <p:spPr/>
            <p:txBody>
              <a:bodyPr/>
              <a:lstStyle/>
              <a:p>
                <a:pPr fontAlgn="base"/>
                <a:r>
                  <a:rPr lang="en-IN" b="1" dirty="0"/>
                  <a:t>Output Weights: </a:t>
                </a:r>
                <a:r>
                  <a:rPr lang="en-IN" dirty="0"/>
                  <a:t>[0.7, 0.2]</a:t>
                </a:r>
              </a:p>
              <a:p>
                <a:pPr fontAlgn="base"/>
                <a:r>
                  <a:rPr lang="en-IN" b="1" dirty="0"/>
                  <a:t>Input from Hidden Layer: </a:t>
                </a:r>
                <a:r>
                  <a:rPr lang="en-IN" dirty="0"/>
                  <a:t>[0.8, 0]</a:t>
                </a:r>
              </a:p>
              <a:p>
                <a:pPr fontAlgn="base"/>
                <a:r>
                  <a:rPr lang="en-IN" b="1" dirty="0"/>
                  <a:t>Weighted Sum: </a:t>
                </a:r>
                <a:r>
                  <a:rPr lang="en-IN" dirty="0"/>
                  <a:t>(0.8×0.7)+(0×0.2)=0.56+0=0.56</a:t>
                </a:r>
              </a:p>
              <a:p>
                <a:pPr fontAlgn="base"/>
                <a:r>
                  <a:rPr lang="en-IN" b="1" dirty="0"/>
                  <a:t>Activation (Sigmoid): </a:t>
                </a:r>
                <a14:m>
                  <m:oMath xmlns:m="http://schemas.openxmlformats.org/officeDocument/2006/math">
                    <m:r>
                      <a:rPr lang="en-IN"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m:t>
                        </m:r>
                      </m:e>
                    </m:d>
                    <m:r>
                      <a:rPr lang="ar-AE">
                        <a:latin typeface="Cambria Math" panose="02040503050406030204" pitchFamily="18" charset="0"/>
                      </a:rPr>
                      <m:t>=</m:t>
                    </m:r>
                    <m:f>
                      <m:fPr>
                        <m:ctrlPr>
                          <a:rPr lang="ar-AE" i="1">
                            <a:latin typeface="Cambria Math" panose="02040503050406030204" pitchFamily="18" charset="0"/>
                          </a:rPr>
                        </m:ctrlPr>
                      </m:fPr>
                      <m:num>
                        <m:r>
                          <a:rPr lang="ar-AE">
                            <a:latin typeface="Cambria Math" panose="02040503050406030204" pitchFamily="18" charset="0"/>
                          </a:rPr>
                          <m:t>1</m:t>
                        </m:r>
                      </m:num>
                      <m:den>
                        <m:r>
                          <a:rPr lang="ar-AE">
                            <a:latin typeface="Cambria Math" panose="02040503050406030204" pitchFamily="18" charset="0"/>
                          </a:rPr>
                          <m:t>1</m:t>
                        </m:r>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m:t>
                            </m:r>
                          </m:sup>
                        </m:sSup>
                      </m:den>
                    </m:f>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636</m:t>
                    </m:r>
                  </m:oMath>
                </a14:m>
                <a:endParaRPr lang="ar-AE" dirty="0"/>
              </a:p>
              <a:p>
                <a:pPr fontAlgn="base"/>
                <a:r>
                  <a:rPr lang="ar-AE" b="1" dirty="0"/>
                  <a:t>4. </a:t>
                </a:r>
                <a:r>
                  <a:rPr lang="en-IN" b="1" dirty="0"/>
                  <a:t>Final Classification:</a:t>
                </a:r>
                <a:endParaRPr lang="en-IN" dirty="0"/>
              </a:p>
              <a:p>
                <a:pPr fontAlgn="base"/>
                <a:r>
                  <a:rPr lang="en-IN" dirty="0"/>
                  <a:t>The output value of approximately </a:t>
                </a:r>
                <a:r>
                  <a:rPr lang="en-IN" b="1" dirty="0"/>
                  <a:t>0.636</a:t>
                </a:r>
                <a:r>
                  <a:rPr lang="en-IN" dirty="0"/>
                  <a:t> indicates the probability of the email being spam.</a:t>
                </a:r>
              </a:p>
              <a:p>
                <a:pPr fontAlgn="base"/>
                <a:r>
                  <a:rPr lang="en-IN" dirty="0"/>
                  <a:t>Since this value is greater than 0.5, the neural network classifies the email as spam (1).</a:t>
                </a:r>
              </a:p>
              <a:p>
                <a:endParaRPr lang="en-IN" dirty="0"/>
              </a:p>
            </p:txBody>
          </p:sp>
        </mc:Choice>
        <mc:Fallback xmlns="">
          <p:sp>
            <p:nvSpPr>
              <p:cNvPr id="3" name="Content Placeholder 2">
                <a:extLst>
                  <a:ext uri="{FF2B5EF4-FFF2-40B4-BE49-F238E27FC236}">
                    <a16:creationId xmlns:a16="http://schemas.microsoft.com/office/drawing/2014/main" id="{62069613-2DA8-1061-4E21-F0A6352134F8}"/>
                  </a:ext>
                </a:extLst>
              </p:cNvPr>
              <p:cNvSpPr>
                <a:spLocks noGrp="1" noRot="1" noChangeAspect="1" noMove="1" noResize="1" noEditPoints="1" noAdjustHandles="1" noChangeArrowheads="1" noChangeShapeType="1" noTextEdit="1"/>
              </p:cNvSpPr>
              <p:nvPr>
                <p:ph idx="1"/>
              </p:nvPr>
            </p:nvSpPr>
            <p:spPr>
              <a:blipFill>
                <a:blip r:embed="rId2"/>
                <a:stretch>
                  <a:fillRect l="-142" t="-942" r="-638"/>
                </a:stretch>
              </a:blipFill>
            </p:spPr>
            <p:txBody>
              <a:bodyPr/>
              <a:lstStyle/>
              <a:p>
                <a:r>
                  <a:rPr lang="en-IN">
                    <a:noFill/>
                  </a:rPr>
                  <a:t> </a:t>
                </a:r>
              </a:p>
            </p:txBody>
          </p:sp>
        </mc:Fallback>
      </mc:AlternateContent>
    </p:spTree>
    <p:extLst>
      <p:ext uri="{BB962C8B-B14F-4D97-AF65-F5344CB8AC3E}">
        <p14:creationId xmlns:p14="http://schemas.microsoft.com/office/powerpoint/2010/main" val="912597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3C95-1BA5-3EDE-3107-0AA6684ADB98}"/>
              </a:ext>
            </a:extLst>
          </p:cNvPr>
          <p:cNvSpPr>
            <a:spLocks noGrp="1"/>
          </p:cNvSpPr>
          <p:nvPr>
            <p:ph type="title"/>
          </p:nvPr>
        </p:nvSpPr>
        <p:spPr/>
        <p:txBody>
          <a:bodyPr/>
          <a:lstStyle/>
          <a:p>
            <a:r>
              <a:rPr lang="en-US" b="1" dirty="0"/>
              <a:t>Types of Neural Networks</a:t>
            </a:r>
            <a:br>
              <a:rPr lang="en-US" b="1" dirty="0"/>
            </a:br>
            <a:endParaRPr lang="en-IN" dirty="0"/>
          </a:p>
        </p:txBody>
      </p:sp>
      <p:sp>
        <p:nvSpPr>
          <p:cNvPr id="3" name="Content Placeholder 2">
            <a:extLst>
              <a:ext uri="{FF2B5EF4-FFF2-40B4-BE49-F238E27FC236}">
                <a16:creationId xmlns:a16="http://schemas.microsoft.com/office/drawing/2014/main" id="{1F378147-34F0-3512-4702-D70EBD3DECC7}"/>
              </a:ext>
            </a:extLst>
          </p:cNvPr>
          <p:cNvSpPr>
            <a:spLocks noGrp="1"/>
          </p:cNvSpPr>
          <p:nvPr>
            <p:ph idx="1"/>
          </p:nvPr>
        </p:nvSpPr>
        <p:spPr/>
        <p:txBody>
          <a:bodyPr>
            <a:normAutofit fontScale="85000" lnSpcReduction="20000"/>
          </a:bodyPr>
          <a:lstStyle/>
          <a:p>
            <a:pPr fontAlgn="base"/>
            <a:r>
              <a:rPr lang="en-US" dirty="0"/>
              <a:t>There are seven types of neural networks that can be used.</a:t>
            </a:r>
          </a:p>
          <a:p>
            <a:pPr fontAlgn="base"/>
            <a:r>
              <a:rPr lang="en-US" b="1" u="sng" dirty="0">
                <a:hlinkClick r:id="rId2"/>
              </a:rPr>
              <a:t>Feedforward Networks</a:t>
            </a:r>
            <a:r>
              <a:rPr lang="en-US" b="1" dirty="0"/>
              <a:t>:</a:t>
            </a:r>
            <a:r>
              <a:rPr lang="en-US" dirty="0"/>
              <a:t> It is a simple artificial neural network architecture in which data moves from input to output in a single direction.</a:t>
            </a:r>
          </a:p>
          <a:p>
            <a:pPr fontAlgn="base"/>
            <a:r>
              <a:rPr lang="en-US" b="1" u="sng" dirty="0" err="1">
                <a:hlinkClick r:id="rId3"/>
              </a:rPr>
              <a:t>Singlelayer</a:t>
            </a:r>
            <a:r>
              <a:rPr lang="en-US" b="1" u="sng" dirty="0">
                <a:hlinkClick r:id="rId3"/>
              </a:rPr>
              <a:t> Perceptron: </a:t>
            </a:r>
            <a:r>
              <a:rPr lang="en-US" dirty="0"/>
              <a:t>It has one layer and it applies weights, sums inputs and uses activation to produce output.</a:t>
            </a:r>
          </a:p>
          <a:p>
            <a:pPr fontAlgn="base"/>
            <a:r>
              <a:rPr lang="en-US" b="1" u="sng" dirty="0">
                <a:hlinkClick r:id="rId4"/>
              </a:rPr>
              <a:t>Multilayer Perceptron (MLP)</a:t>
            </a:r>
            <a:r>
              <a:rPr lang="en-US" b="1" dirty="0"/>
              <a:t>:</a:t>
            </a:r>
            <a:r>
              <a:rPr lang="en-US" dirty="0"/>
              <a:t> It is a type of feedforward neural network with three or more layers, including an input layer, one or more hidden layers and an output layer. It uses nonlinear activation functions.</a:t>
            </a:r>
          </a:p>
          <a:p>
            <a:pPr fontAlgn="base"/>
            <a:r>
              <a:rPr lang="en-US" b="1" u="sng" dirty="0">
                <a:hlinkClick r:id="rId5"/>
              </a:rPr>
              <a:t>Convolutional Neural Network (CNN)</a:t>
            </a:r>
            <a:r>
              <a:rPr lang="en-US" b="1" dirty="0"/>
              <a:t>:</a:t>
            </a:r>
            <a:r>
              <a:rPr lang="en-US" dirty="0"/>
              <a:t> It is designed for image processing. It uses convolutional layers to automatically learn features from input images, enabling effective image recognition and classification.</a:t>
            </a:r>
          </a:p>
          <a:p>
            <a:pPr fontAlgn="base"/>
            <a:r>
              <a:rPr lang="en-US" b="1" u="sng" dirty="0">
                <a:hlinkClick r:id="rId6"/>
              </a:rPr>
              <a:t>Recurrent Neural Network (RNN)</a:t>
            </a:r>
            <a:r>
              <a:rPr lang="en-US" b="1" dirty="0"/>
              <a:t>: </a:t>
            </a:r>
            <a:r>
              <a:rPr lang="en-US" dirty="0"/>
              <a:t>Handles sequential data using feedback loops to retain context over time.</a:t>
            </a:r>
          </a:p>
          <a:p>
            <a:pPr fontAlgn="base"/>
            <a:r>
              <a:rPr lang="en-US" b="1" u="sng" dirty="0">
                <a:hlinkClick r:id="rId7"/>
              </a:rPr>
              <a:t>Long Short-Term Memory (LSTM)</a:t>
            </a:r>
            <a:r>
              <a:rPr lang="en-US" b="1" dirty="0"/>
              <a:t>: </a:t>
            </a:r>
            <a:r>
              <a:rPr lang="en-US" dirty="0"/>
              <a:t>A type of RNN with memory cells and gates to handle long-term dependencies and avoid vanishing gradients.</a:t>
            </a:r>
          </a:p>
          <a:p>
            <a:endParaRPr lang="en-IN" dirty="0"/>
          </a:p>
        </p:txBody>
      </p:sp>
    </p:spTree>
    <p:extLst>
      <p:ext uri="{BB962C8B-B14F-4D97-AF65-F5344CB8AC3E}">
        <p14:creationId xmlns:p14="http://schemas.microsoft.com/office/powerpoint/2010/main" val="385074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66112-0D32-6D34-7DAA-6CDD69F2C6AA}"/>
              </a:ext>
            </a:extLst>
          </p:cNvPr>
          <p:cNvSpPr>
            <a:spLocks noGrp="1"/>
          </p:cNvSpPr>
          <p:nvPr>
            <p:ph type="title"/>
          </p:nvPr>
        </p:nvSpPr>
        <p:spPr/>
        <p:txBody>
          <a:bodyPr/>
          <a:lstStyle/>
          <a:p>
            <a:r>
              <a:rPr lang="en-IN" dirty="0"/>
              <a:t>Create and Load Data Set</a:t>
            </a:r>
          </a:p>
        </p:txBody>
      </p:sp>
      <p:sp>
        <p:nvSpPr>
          <p:cNvPr id="3" name="Content Placeholder 2">
            <a:extLst>
              <a:ext uri="{FF2B5EF4-FFF2-40B4-BE49-F238E27FC236}">
                <a16:creationId xmlns:a16="http://schemas.microsoft.com/office/drawing/2014/main" id="{919661A3-2C8E-C471-F153-E22FC140E396}"/>
              </a:ext>
            </a:extLst>
          </p:cNvPr>
          <p:cNvSpPr>
            <a:spLocks noGrp="1"/>
          </p:cNvSpPr>
          <p:nvPr>
            <p:ph idx="1"/>
          </p:nvPr>
        </p:nvSpPr>
        <p:spPr/>
        <p:txBody>
          <a:bodyPr/>
          <a:lstStyle/>
          <a:p>
            <a:pPr fontAlgn="base"/>
            <a:r>
              <a:rPr lang="en-US" dirty="0" err="1"/>
              <a:t>attendance,marks,assignment,result</a:t>
            </a:r>
            <a:endParaRPr lang="en-US" dirty="0"/>
          </a:p>
          <a:p>
            <a:pPr fontAlgn="base"/>
            <a:r>
              <a:rPr lang="en-US" dirty="0"/>
              <a:t>85,78,80,1</a:t>
            </a:r>
          </a:p>
          <a:p>
            <a:pPr fontAlgn="base"/>
            <a:r>
              <a:rPr lang="en-US" dirty="0"/>
              <a:t>60,55,50,0</a:t>
            </a:r>
          </a:p>
          <a:p>
            <a:pPr fontAlgn="base"/>
            <a:r>
              <a:rPr lang="en-US" dirty="0"/>
              <a:t>90,88,92,1</a:t>
            </a:r>
          </a:p>
          <a:p>
            <a:pPr fontAlgn="base"/>
            <a:r>
              <a:rPr lang="en-US" dirty="0"/>
              <a:t>40,35,45,0</a:t>
            </a:r>
          </a:p>
          <a:p>
            <a:pPr fontAlgn="base"/>
            <a:r>
              <a:rPr lang="en-US" dirty="0"/>
              <a:t>70,65,68,1</a:t>
            </a:r>
          </a:p>
          <a:p>
            <a:pPr fontAlgn="base"/>
            <a:r>
              <a:rPr lang="en-US" dirty="0"/>
              <a:t>50,45,40,0</a:t>
            </a:r>
          </a:p>
          <a:p>
            <a:pPr fontAlgn="base"/>
            <a:r>
              <a:rPr lang="en-US" dirty="0"/>
              <a:t>95,90,94,1</a:t>
            </a:r>
          </a:p>
          <a:p>
            <a:pPr fontAlgn="base"/>
            <a:r>
              <a:rPr lang="en-US" dirty="0"/>
              <a:t>30,25,20,0</a:t>
            </a:r>
          </a:p>
          <a:p>
            <a:endParaRPr lang="en-IN" dirty="0"/>
          </a:p>
        </p:txBody>
      </p:sp>
    </p:spTree>
    <p:extLst>
      <p:ext uri="{BB962C8B-B14F-4D97-AF65-F5344CB8AC3E}">
        <p14:creationId xmlns:p14="http://schemas.microsoft.com/office/powerpoint/2010/main" val="2229331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1A485-C0F8-B20C-C634-DF471B08A92C}"/>
              </a:ext>
            </a:extLst>
          </p:cNvPr>
          <p:cNvSpPr>
            <a:spLocks noGrp="1"/>
          </p:cNvSpPr>
          <p:nvPr>
            <p:ph type="title"/>
          </p:nvPr>
        </p:nvSpPr>
        <p:spPr/>
        <p:txBody>
          <a:bodyPr/>
          <a:lstStyle/>
          <a:p>
            <a:r>
              <a:rPr lang="en-IN" dirty="0"/>
              <a:t>Import Libraries</a:t>
            </a:r>
          </a:p>
        </p:txBody>
      </p:sp>
      <p:sp>
        <p:nvSpPr>
          <p:cNvPr id="3" name="Content Placeholder 2">
            <a:extLst>
              <a:ext uri="{FF2B5EF4-FFF2-40B4-BE49-F238E27FC236}">
                <a16:creationId xmlns:a16="http://schemas.microsoft.com/office/drawing/2014/main" id="{3A7219AE-3EA1-11CA-026C-4C1C5A36FB08}"/>
              </a:ext>
            </a:extLst>
          </p:cNvPr>
          <p:cNvSpPr>
            <a:spLocks noGrp="1"/>
          </p:cNvSpPr>
          <p:nvPr>
            <p:ph idx="1"/>
          </p:nvPr>
        </p:nvSpPr>
        <p:spPr/>
        <p:txBody>
          <a:bodyPr/>
          <a:lstStyle/>
          <a:p>
            <a:pPr fontAlgn="base"/>
            <a:r>
              <a:rPr lang="en-IN" b="1" dirty="0"/>
              <a:t>import</a:t>
            </a:r>
            <a:r>
              <a:rPr lang="en-IN" dirty="0"/>
              <a:t> </a:t>
            </a:r>
            <a:r>
              <a:rPr lang="en-IN" b="1" dirty="0" err="1"/>
              <a:t>numpy</a:t>
            </a:r>
            <a:r>
              <a:rPr lang="en-IN" dirty="0"/>
              <a:t> </a:t>
            </a:r>
            <a:r>
              <a:rPr lang="en-IN" b="1" dirty="0"/>
              <a:t>as</a:t>
            </a:r>
            <a:r>
              <a:rPr lang="en-IN" dirty="0"/>
              <a:t> </a:t>
            </a:r>
            <a:r>
              <a:rPr lang="en-IN" b="1" dirty="0"/>
              <a:t>np</a:t>
            </a:r>
            <a:endParaRPr lang="en-IN" dirty="0"/>
          </a:p>
          <a:p>
            <a:pPr fontAlgn="base"/>
            <a:r>
              <a:rPr lang="en-IN" b="1" dirty="0"/>
              <a:t>import</a:t>
            </a:r>
            <a:r>
              <a:rPr lang="en-IN" dirty="0"/>
              <a:t> </a:t>
            </a:r>
            <a:r>
              <a:rPr lang="en-IN" b="1" dirty="0"/>
              <a:t>pandas</a:t>
            </a:r>
            <a:r>
              <a:rPr lang="en-IN" dirty="0"/>
              <a:t> </a:t>
            </a:r>
            <a:r>
              <a:rPr lang="en-IN" b="1" dirty="0"/>
              <a:t>as</a:t>
            </a:r>
            <a:r>
              <a:rPr lang="en-IN" dirty="0"/>
              <a:t> </a:t>
            </a:r>
            <a:r>
              <a:rPr lang="en-IN" b="1" dirty="0"/>
              <a:t>pd</a:t>
            </a:r>
            <a:endParaRPr lang="en-IN" dirty="0"/>
          </a:p>
          <a:p>
            <a:pPr fontAlgn="base"/>
            <a:r>
              <a:rPr lang="en-IN" b="1" dirty="0"/>
              <a:t>from</a:t>
            </a:r>
            <a:r>
              <a:rPr lang="en-IN" dirty="0"/>
              <a:t> </a:t>
            </a:r>
            <a:r>
              <a:rPr lang="en-IN" b="1" dirty="0" err="1"/>
              <a:t>tensorflow.keras.models</a:t>
            </a:r>
            <a:r>
              <a:rPr lang="en-IN" dirty="0"/>
              <a:t> </a:t>
            </a:r>
            <a:r>
              <a:rPr lang="en-IN" b="1" dirty="0"/>
              <a:t>import</a:t>
            </a:r>
            <a:r>
              <a:rPr lang="en-IN" dirty="0"/>
              <a:t> Sequential</a:t>
            </a:r>
          </a:p>
          <a:p>
            <a:pPr fontAlgn="base"/>
            <a:r>
              <a:rPr lang="en-IN" b="1" dirty="0"/>
              <a:t>from</a:t>
            </a:r>
            <a:r>
              <a:rPr lang="en-IN" dirty="0"/>
              <a:t> </a:t>
            </a:r>
            <a:r>
              <a:rPr lang="en-IN" b="1" dirty="0" err="1"/>
              <a:t>tensorflow.keras.layers</a:t>
            </a:r>
            <a:r>
              <a:rPr lang="en-IN" dirty="0"/>
              <a:t> </a:t>
            </a:r>
            <a:r>
              <a:rPr lang="en-IN" b="1" dirty="0"/>
              <a:t>import</a:t>
            </a:r>
            <a:r>
              <a:rPr lang="en-IN" dirty="0"/>
              <a:t> Dense</a:t>
            </a:r>
          </a:p>
          <a:p>
            <a:endParaRPr lang="en-IN" dirty="0"/>
          </a:p>
        </p:txBody>
      </p:sp>
    </p:spTree>
    <p:extLst>
      <p:ext uri="{BB962C8B-B14F-4D97-AF65-F5344CB8AC3E}">
        <p14:creationId xmlns:p14="http://schemas.microsoft.com/office/powerpoint/2010/main" val="1689990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ECBC2-E359-5CAF-52B3-138AC00A7897}"/>
              </a:ext>
            </a:extLst>
          </p:cNvPr>
          <p:cNvSpPr>
            <a:spLocks noGrp="1"/>
          </p:cNvSpPr>
          <p:nvPr>
            <p:ph type="title"/>
          </p:nvPr>
        </p:nvSpPr>
        <p:spPr/>
        <p:txBody>
          <a:bodyPr/>
          <a:lstStyle/>
          <a:p>
            <a:r>
              <a:rPr lang="en-IN" dirty="0"/>
              <a:t>Load dataset</a:t>
            </a:r>
          </a:p>
        </p:txBody>
      </p:sp>
      <p:sp>
        <p:nvSpPr>
          <p:cNvPr id="3" name="Content Placeholder 2">
            <a:extLst>
              <a:ext uri="{FF2B5EF4-FFF2-40B4-BE49-F238E27FC236}">
                <a16:creationId xmlns:a16="http://schemas.microsoft.com/office/drawing/2014/main" id="{9414C7EF-8673-A2E3-848D-95CFAF9158EA}"/>
              </a:ext>
            </a:extLst>
          </p:cNvPr>
          <p:cNvSpPr>
            <a:spLocks noGrp="1"/>
          </p:cNvSpPr>
          <p:nvPr>
            <p:ph idx="1"/>
          </p:nvPr>
        </p:nvSpPr>
        <p:spPr/>
        <p:txBody>
          <a:bodyPr/>
          <a:lstStyle/>
          <a:p>
            <a:r>
              <a:rPr lang="en-IN" dirty="0"/>
              <a:t>data = </a:t>
            </a:r>
            <a:r>
              <a:rPr lang="en-IN" dirty="0" err="1"/>
              <a:t>pd.read_csv</a:t>
            </a:r>
            <a:r>
              <a:rPr lang="en-IN" dirty="0"/>
              <a:t>("student_performance.csv")</a:t>
            </a:r>
          </a:p>
          <a:p>
            <a:r>
              <a:rPr lang="en-IN" dirty="0"/>
              <a:t>print(</a:t>
            </a:r>
            <a:r>
              <a:rPr lang="en-IN" dirty="0" err="1"/>
              <a:t>data.head</a:t>
            </a:r>
            <a:r>
              <a:rPr lang="en-IN" dirty="0"/>
              <a:t>())</a:t>
            </a:r>
          </a:p>
          <a:p>
            <a:endParaRPr lang="en-IN" dirty="0"/>
          </a:p>
        </p:txBody>
      </p:sp>
    </p:spTree>
    <p:extLst>
      <p:ext uri="{BB962C8B-B14F-4D97-AF65-F5344CB8AC3E}">
        <p14:creationId xmlns:p14="http://schemas.microsoft.com/office/powerpoint/2010/main" val="701371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272AC-EFBD-4843-322B-30ED7955A42D}"/>
              </a:ext>
            </a:extLst>
          </p:cNvPr>
          <p:cNvSpPr>
            <a:spLocks noGrp="1"/>
          </p:cNvSpPr>
          <p:nvPr>
            <p:ph type="title"/>
          </p:nvPr>
        </p:nvSpPr>
        <p:spPr/>
        <p:txBody>
          <a:bodyPr/>
          <a:lstStyle/>
          <a:p>
            <a:r>
              <a:rPr lang="en-US" dirty="0"/>
              <a:t>Step 3: Split Features &amp; Target</a:t>
            </a:r>
            <a:endParaRPr lang="en-IN" dirty="0"/>
          </a:p>
        </p:txBody>
      </p:sp>
      <p:sp>
        <p:nvSpPr>
          <p:cNvPr id="3" name="Content Placeholder 2">
            <a:extLst>
              <a:ext uri="{FF2B5EF4-FFF2-40B4-BE49-F238E27FC236}">
                <a16:creationId xmlns:a16="http://schemas.microsoft.com/office/drawing/2014/main" id="{D88E4C47-6B1C-3667-66E8-EF2F29F59CDC}"/>
              </a:ext>
            </a:extLst>
          </p:cNvPr>
          <p:cNvSpPr>
            <a:spLocks noGrp="1"/>
          </p:cNvSpPr>
          <p:nvPr>
            <p:ph idx="1"/>
          </p:nvPr>
        </p:nvSpPr>
        <p:spPr/>
        <p:txBody>
          <a:bodyPr/>
          <a:lstStyle/>
          <a:p>
            <a:r>
              <a:rPr lang="en-IN" dirty="0"/>
              <a:t>X = data[['attendance', 'marks', 'assignment']]</a:t>
            </a:r>
          </a:p>
          <a:p>
            <a:r>
              <a:rPr lang="en-IN" dirty="0"/>
              <a:t>y = data['result']</a:t>
            </a:r>
          </a:p>
          <a:p>
            <a:endParaRPr lang="en-IN" dirty="0"/>
          </a:p>
        </p:txBody>
      </p:sp>
    </p:spTree>
    <p:extLst>
      <p:ext uri="{BB962C8B-B14F-4D97-AF65-F5344CB8AC3E}">
        <p14:creationId xmlns:p14="http://schemas.microsoft.com/office/powerpoint/2010/main" val="3950918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26B83-68E3-3973-595C-D8561F0FB9B4}"/>
              </a:ext>
            </a:extLst>
          </p:cNvPr>
          <p:cNvSpPr>
            <a:spLocks noGrp="1"/>
          </p:cNvSpPr>
          <p:nvPr>
            <p:ph type="title"/>
          </p:nvPr>
        </p:nvSpPr>
        <p:spPr/>
        <p:txBody>
          <a:bodyPr/>
          <a:lstStyle/>
          <a:p>
            <a:r>
              <a:rPr lang="en-IN" dirty="0"/>
              <a:t>4.Train and Test Split</a:t>
            </a:r>
          </a:p>
        </p:txBody>
      </p:sp>
      <p:sp>
        <p:nvSpPr>
          <p:cNvPr id="3" name="Content Placeholder 2">
            <a:extLst>
              <a:ext uri="{FF2B5EF4-FFF2-40B4-BE49-F238E27FC236}">
                <a16:creationId xmlns:a16="http://schemas.microsoft.com/office/drawing/2014/main" id="{74FBC301-F953-8409-1934-DA2A3DC2467B}"/>
              </a:ext>
            </a:extLst>
          </p:cNvPr>
          <p:cNvSpPr>
            <a:spLocks noGrp="1"/>
          </p:cNvSpPr>
          <p:nvPr>
            <p:ph idx="1"/>
          </p:nvPr>
        </p:nvSpPr>
        <p:spPr/>
        <p:txBody>
          <a:bodyPr/>
          <a:lstStyle/>
          <a:p>
            <a:r>
              <a:rPr lang="en-US" dirty="0" err="1"/>
              <a:t>X_train</a:t>
            </a:r>
            <a:r>
              <a:rPr lang="en-US" dirty="0"/>
              <a:t>, </a:t>
            </a:r>
            <a:r>
              <a:rPr lang="en-US" dirty="0" err="1"/>
              <a:t>X_test</a:t>
            </a:r>
            <a:r>
              <a:rPr lang="en-US" dirty="0"/>
              <a:t>, </a:t>
            </a:r>
            <a:r>
              <a:rPr lang="en-US" dirty="0" err="1"/>
              <a:t>y_train</a:t>
            </a:r>
            <a:r>
              <a:rPr lang="en-US" dirty="0"/>
              <a:t>, </a:t>
            </a:r>
            <a:r>
              <a:rPr lang="en-US" dirty="0" err="1"/>
              <a:t>y_test</a:t>
            </a:r>
            <a:r>
              <a:rPr lang="en-US" dirty="0"/>
              <a:t> = </a:t>
            </a:r>
            <a:r>
              <a:rPr lang="en-US" dirty="0" err="1"/>
              <a:t>train_test_split</a:t>
            </a:r>
            <a:r>
              <a:rPr lang="en-US" dirty="0"/>
              <a:t>(</a:t>
            </a:r>
          </a:p>
          <a:p>
            <a:r>
              <a:rPr lang="en-US" dirty="0"/>
              <a:t>    X, y, </a:t>
            </a:r>
            <a:r>
              <a:rPr lang="en-US" dirty="0" err="1"/>
              <a:t>test_size</a:t>
            </a:r>
            <a:r>
              <a:rPr lang="en-US" dirty="0"/>
              <a:t>=0.25, </a:t>
            </a:r>
            <a:r>
              <a:rPr lang="en-US" dirty="0" err="1"/>
              <a:t>random_state</a:t>
            </a:r>
            <a:r>
              <a:rPr lang="en-US" dirty="0"/>
              <a:t>=42</a:t>
            </a:r>
          </a:p>
          <a:p>
            <a:r>
              <a:rPr lang="en-US" dirty="0"/>
              <a:t>)</a:t>
            </a:r>
          </a:p>
          <a:p>
            <a:endParaRPr lang="en-IN" dirty="0"/>
          </a:p>
        </p:txBody>
      </p:sp>
    </p:spTree>
    <p:extLst>
      <p:ext uri="{BB962C8B-B14F-4D97-AF65-F5344CB8AC3E}">
        <p14:creationId xmlns:p14="http://schemas.microsoft.com/office/powerpoint/2010/main" val="1842873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CD8AA-DEDC-65B1-D461-5C186CA43054}"/>
              </a:ext>
            </a:extLst>
          </p:cNvPr>
          <p:cNvSpPr>
            <a:spLocks noGrp="1"/>
          </p:cNvSpPr>
          <p:nvPr>
            <p:ph type="title"/>
          </p:nvPr>
        </p:nvSpPr>
        <p:spPr/>
        <p:txBody>
          <a:bodyPr/>
          <a:lstStyle/>
          <a:p>
            <a:r>
              <a:rPr lang="en-US" dirty="0"/>
              <a:t>Step 5: Feature Scaling (Important for NN)</a:t>
            </a:r>
            <a:endParaRPr lang="en-IN" dirty="0"/>
          </a:p>
        </p:txBody>
      </p:sp>
      <p:sp>
        <p:nvSpPr>
          <p:cNvPr id="3" name="Content Placeholder 2">
            <a:extLst>
              <a:ext uri="{FF2B5EF4-FFF2-40B4-BE49-F238E27FC236}">
                <a16:creationId xmlns:a16="http://schemas.microsoft.com/office/drawing/2014/main" id="{13839C4A-DE03-9C1C-2A73-5916CF4BD54C}"/>
              </a:ext>
            </a:extLst>
          </p:cNvPr>
          <p:cNvSpPr>
            <a:spLocks noGrp="1"/>
          </p:cNvSpPr>
          <p:nvPr>
            <p:ph idx="1"/>
          </p:nvPr>
        </p:nvSpPr>
        <p:spPr/>
        <p:txBody>
          <a:bodyPr/>
          <a:lstStyle/>
          <a:p>
            <a:r>
              <a:rPr lang="en-IN" dirty="0"/>
              <a:t>scaler = </a:t>
            </a:r>
            <a:r>
              <a:rPr lang="en-IN" dirty="0" err="1"/>
              <a:t>StandardScaler</a:t>
            </a:r>
            <a:r>
              <a:rPr lang="en-IN" dirty="0"/>
              <a:t>()</a:t>
            </a:r>
          </a:p>
          <a:p>
            <a:r>
              <a:rPr lang="en-IN" dirty="0" err="1"/>
              <a:t>X_train</a:t>
            </a:r>
            <a:r>
              <a:rPr lang="en-IN" dirty="0"/>
              <a:t> = </a:t>
            </a:r>
            <a:r>
              <a:rPr lang="en-IN" dirty="0" err="1"/>
              <a:t>scaler.fit_transform</a:t>
            </a:r>
            <a:r>
              <a:rPr lang="en-IN" dirty="0"/>
              <a:t>(</a:t>
            </a:r>
            <a:r>
              <a:rPr lang="en-IN" dirty="0" err="1"/>
              <a:t>X_train</a:t>
            </a:r>
            <a:r>
              <a:rPr lang="en-IN" dirty="0"/>
              <a:t>)</a:t>
            </a:r>
          </a:p>
          <a:p>
            <a:r>
              <a:rPr lang="en-IN" dirty="0" err="1"/>
              <a:t>X_test</a:t>
            </a:r>
            <a:r>
              <a:rPr lang="en-IN" dirty="0"/>
              <a:t> = </a:t>
            </a:r>
            <a:r>
              <a:rPr lang="en-IN" dirty="0" err="1"/>
              <a:t>scaler.transform</a:t>
            </a:r>
            <a:r>
              <a:rPr lang="en-IN" dirty="0"/>
              <a:t>(</a:t>
            </a:r>
            <a:r>
              <a:rPr lang="en-IN" dirty="0" err="1"/>
              <a:t>X_test</a:t>
            </a:r>
            <a:r>
              <a:rPr lang="en-IN" dirty="0"/>
              <a:t>)</a:t>
            </a:r>
          </a:p>
          <a:p>
            <a:endParaRPr lang="en-IN" dirty="0"/>
          </a:p>
        </p:txBody>
      </p:sp>
    </p:spTree>
    <p:extLst>
      <p:ext uri="{BB962C8B-B14F-4D97-AF65-F5344CB8AC3E}">
        <p14:creationId xmlns:p14="http://schemas.microsoft.com/office/powerpoint/2010/main" val="1743590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F1CF4-23B2-6350-5628-6DB38E504689}"/>
              </a:ext>
            </a:extLst>
          </p:cNvPr>
          <p:cNvSpPr>
            <a:spLocks noGrp="1"/>
          </p:cNvSpPr>
          <p:nvPr>
            <p:ph type="title"/>
          </p:nvPr>
        </p:nvSpPr>
        <p:spPr/>
        <p:txBody>
          <a:bodyPr/>
          <a:lstStyle/>
          <a:p>
            <a:r>
              <a:rPr lang="en-US" dirty="0"/>
              <a:t>Step 6: Build Neural Network (ANN)</a:t>
            </a:r>
            <a:endParaRPr lang="en-IN" dirty="0"/>
          </a:p>
        </p:txBody>
      </p:sp>
      <p:sp>
        <p:nvSpPr>
          <p:cNvPr id="3" name="Content Placeholder 2">
            <a:extLst>
              <a:ext uri="{FF2B5EF4-FFF2-40B4-BE49-F238E27FC236}">
                <a16:creationId xmlns:a16="http://schemas.microsoft.com/office/drawing/2014/main" id="{95781474-9D04-E6E7-8C8E-0CF5FB555894}"/>
              </a:ext>
            </a:extLst>
          </p:cNvPr>
          <p:cNvSpPr>
            <a:spLocks noGrp="1"/>
          </p:cNvSpPr>
          <p:nvPr>
            <p:ph idx="1"/>
          </p:nvPr>
        </p:nvSpPr>
        <p:spPr/>
        <p:txBody>
          <a:bodyPr/>
          <a:lstStyle/>
          <a:p>
            <a:r>
              <a:rPr lang="en-IN" dirty="0"/>
              <a:t>model = Sequential([</a:t>
            </a:r>
          </a:p>
          <a:p>
            <a:r>
              <a:rPr lang="en-IN" dirty="0"/>
              <a:t>    Dense(8, activation='</a:t>
            </a:r>
            <a:r>
              <a:rPr lang="en-IN" dirty="0" err="1"/>
              <a:t>relu</a:t>
            </a:r>
            <a:r>
              <a:rPr lang="en-IN" dirty="0"/>
              <a:t>', </a:t>
            </a:r>
            <a:r>
              <a:rPr lang="en-IN" dirty="0" err="1"/>
              <a:t>input_shape</a:t>
            </a:r>
            <a:r>
              <a:rPr lang="en-IN" dirty="0"/>
              <a:t>=(3,)),</a:t>
            </a:r>
          </a:p>
          <a:p>
            <a:r>
              <a:rPr lang="en-IN" dirty="0"/>
              <a:t>    Dense(4, activation='</a:t>
            </a:r>
            <a:r>
              <a:rPr lang="en-IN" dirty="0" err="1"/>
              <a:t>relu</a:t>
            </a:r>
            <a:r>
              <a:rPr lang="en-IN" dirty="0"/>
              <a:t>'),</a:t>
            </a:r>
          </a:p>
          <a:p>
            <a:r>
              <a:rPr lang="en-IN" dirty="0"/>
              <a:t>    Dense(1, activation='sigmoid')</a:t>
            </a:r>
          </a:p>
          <a:p>
            <a:r>
              <a:rPr lang="en-IN" dirty="0"/>
              <a:t>])</a:t>
            </a:r>
          </a:p>
          <a:p>
            <a:endParaRPr lang="en-IN" dirty="0"/>
          </a:p>
        </p:txBody>
      </p:sp>
    </p:spTree>
    <p:extLst>
      <p:ext uri="{BB962C8B-B14F-4D97-AF65-F5344CB8AC3E}">
        <p14:creationId xmlns:p14="http://schemas.microsoft.com/office/powerpoint/2010/main" val="3702031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E41DF-59C7-CC0A-9CFF-28E084DE16AC}"/>
              </a:ext>
            </a:extLst>
          </p:cNvPr>
          <p:cNvSpPr>
            <a:spLocks noGrp="1"/>
          </p:cNvSpPr>
          <p:nvPr>
            <p:ph type="title"/>
          </p:nvPr>
        </p:nvSpPr>
        <p:spPr/>
        <p:txBody>
          <a:bodyPr/>
          <a:lstStyle/>
          <a:p>
            <a:r>
              <a:rPr lang="en-IN" dirty="0"/>
              <a:t>Network Structure</a:t>
            </a:r>
          </a:p>
        </p:txBody>
      </p:sp>
      <p:sp>
        <p:nvSpPr>
          <p:cNvPr id="3" name="Content Placeholder 2">
            <a:extLst>
              <a:ext uri="{FF2B5EF4-FFF2-40B4-BE49-F238E27FC236}">
                <a16:creationId xmlns:a16="http://schemas.microsoft.com/office/drawing/2014/main" id="{F073A507-E1CB-7CC9-CFD9-A6273A6C1F70}"/>
              </a:ext>
            </a:extLst>
          </p:cNvPr>
          <p:cNvSpPr>
            <a:spLocks noGrp="1"/>
          </p:cNvSpPr>
          <p:nvPr>
            <p:ph idx="1"/>
          </p:nvPr>
        </p:nvSpPr>
        <p:spPr/>
        <p:txBody>
          <a:bodyPr/>
          <a:lstStyle/>
          <a:p>
            <a:r>
              <a:rPr lang="en-IN" dirty="0"/>
              <a:t>Input Layer (3 features)</a:t>
            </a:r>
          </a:p>
          <a:p>
            <a:r>
              <a:rPr lang="en-IN" dirty="0"/>
              <a:t>↓</a:t>
            </a:r>
          </a:p>
          <a:p>
            <a:r>
              <a:rPr lang="en-IN" dirty="0"/>
              <a:t>Hidden Layer (8 neurons)</a:t>
            </a:r>
          </a:p>
          <a:p>
            <a:r>
              <a:rPr lang="en-IN" dirty="0"/>
              <a:t>↓</a:t>
            </a:r>
          </a:p>
          <a:p>
            <a:r>
              <a:rPr lang="en-IN" dirty="0"/>
              <a:t>Hidden Layer (4 neurons)</a:t>
            </a:r>
          </a:p>
          <a:p>
            <a:r>
              <a:rPr lang="en-IN" dirty="0"/>
              <a:t>↓</a:t>
            </a:r>
          </a:p>
          <a:p>
            <a:r>
              <a:rPr lang="en-IN" dirty="0"/>
              <a:t>Output Layer (1 neuron)</a:t>
            </a:r>
          </a:p>
          <a:p>
            <a:endParaRPr lang="en-IN" dirty="0"/>
          </a:p>
        </p:txBody>
      </p:sp>
    </p:spTree>
    <p:extLst>
      <p:ext uri="{BB962C8B-B14F-4D97-AF65-F5344CB8AC3E}">
        <p14:creationId xmlns:p14="http://schemas.microsoft.com/office/powerpoint/2010/main" val="1005564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067B-61E5-78DE-56A8-9690E7AC3984}"/>
              </a:ext>
            </a:extLst>
          </p:cNvPr>
          <p:cNvSpPr>
            <a:spLocks noGrp="1"/>
          </p:cNvSpPr>
          <p:nvPr>
            <p:ph type="title"/>
          </p:nvPr>
        </p:nvSpPr>
        <p:spPr/>
        <p:txBody>
          <a:bodyPr/>
          <a:lstStyle/>
          <a:p>
            <a:r>
              <a:rPr lang="en-IN" dirty="0"/>
              <a:t>Step 7: Compile Model</a:t>
            </a:r>
          </a:p>
        </p:txBody>
      </p:sp>
      <p:sp>
        <p:nvSpPr>
          <p:cNvPr id="3" name="Content Placeholder 2">
            <a:extLst>
              <a:ext uri="{FF2B5EF4-FFF2-40B4-BE49-F238E27FC236}">
                <a16:creationId xmlns:a16="http://schemas.microsoft.com/office/drawing/2014/main" id="{1C87D67B-3AC5-97F5-A60E-BC1B4F7BEEBF}"/>
              </a:ext>
            </a:extLst>
          </p:cNvPr>
          <p:cNvSpPr>
            <a:spLocks noGrp="1"/>
          </p:cNvSpPr>
          <p:nvPr>
            <p:ph idx="1"/>
          </p:nvPr>
        </p:nvSpPr>
        <p:spPr/>
        <p:txBody>
          <a:bodyPr/>
          <a:lstStyle/>
          <a:p>
            <a:r>
              <a:rPr lang="en-IN" dirty="0" err="1"/>
              <a:t>model.compile</a:t>
            </a:r>
            <a:r>
              <a:rPr lang="en-IN" dirty="0"/>
              <a:t>(</a:t>
            </a:r>
          </a:p>
          <a:p>
            <a:r>
              <a:rPr lang="en-IN" dirty="0"/>
              <a:t>    optimizer='</a:t>
            </a:r>
            <a:r>
              <a:rPr lang="en-IN" dirty="0" err="1"/>
              <a:t>adam</a:t>
            </a:r>
            <a:r>
              <a:rPr lang="en-IN" dirty="0"/>
              <a:t>',</a:t>
            </a:r>
          </a:p>
          <a:p>
            <a:r>
              <a:rPr lang="en-IN" dirty="0"/>
              <a:t>    loss='</a:t>
            </a:r>
            <a:r>
              <a:rPr lang="en-IN" dirty="0" err="1"/>
              <a:t>binary_crossentropy</a:t>
            </a:r>
            <a:r>
              <a:rPr lang="en-IN" dirty="0"/>
              <a:t>',</a:t>
            </a:r>
          </a:p>
          <a:p>
            <a:r>
              <a:rPr lang="en-IN" dirty="0"/>
              <a:t>    metrics=['accuracy']</a:t>
            </a:r>
          </a:p>
          <a:p>
            <a:r>
              <a:rPr lang="en-IN" dirty="0"/>
              <a:t>)</a:t>
            </a:r>
          </a:p>
          <a:p>
            <a:endParaRPr lang="en-IN" dirty="0"/>
          </a:p>
        </p:txBody>
      </p:sp>
    </p:spTree>
    <p:extLst>
      <p:ext uri="{BB962C8B-B14F-4D97-AF65-F5344CB8AC3E}">
        <p14:creationId xmlns:p14="http://schemas.microsoft.com/office/powerpoint/2010/main" val="1889249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46C8F-BCCF-F77C-6BDA-43A998FFF6F1}"/>
              </a:ext>
            </a:extLst>
          </p:cNvPr>
          <p:cNvSpPr>
            <a:spLocks noGrp="1"/>
          </p:cNvSpPr>
          <p:nvPr>
            <p:ph type="title"/>
          </p:nvPr>
        </p:nvSpPr>
        <p:spPr/>
        <p:txBody>
          <a:bodyPr/>
          <a:lstStyle/>
          <a:p>
            <a:r>
              <a:rPr lang="en-US" dirty="0"/>
              <a:t>Step 8: Train Neural Network</a:t>
            </a:r>
            <a:endParaRPr lang="en-IN" dirty="0"/>
          </a:p>
        </p:txBody>
      </p:sp>
      <p:sp>
        <p:nvSpPr>
          <p:cNvPr id="3" name="Content Placeholder 2">
            <a:extLst>
              <a:ext uri="{FF2B5EF4-FFF2-40B4-BE49-F238E27FC236}">
                <a16:creationId xmlns:a16="http://schemas.microsoft.com/office/drawing/2014/main" id="{F5ACE993-A6B9-D0C7-433D-A834FFC7DECA}"/>
              </a:ext>
            </a:extLst>
          </p:cNvPr>
          <p:cNvSpPr>
            <a:spLocks noGrp="1"/>
          </p:cNvSpPr>
          <p:nvPr>
            <p:ph idx="1"/>
          </p:nvPr>
        </p:nvSpPr>
        <p:spPr/>
        <p:txBody>
          <a:bodyPr/>
          <a:lstStyle/>
          <a:p>
            <a:r>
              <a:rPr lang="fr-FR" dirty="0" err="1"/>
              <a:t>model.fit</a:t>
            </a:r>
            <a:r>
              <a:rPr lang="fr-FR" dirty="0"/>
              <a:t>(</a:t>
            </a:r>
            <a:r>
              <a:rPr lang="fr-FR" dirty="0" err="1"/>
              <a:t>X_train</a:t>
            </a:r>
            <a:r>
              <a:rPr lang="fr-FR" dirty="0"/>
              <a:t>, </a:t>
            </a:r>
            <a:r>
              <a:rPr lang="fr-FR" dirty="0" err="1"/>
              <a:t>y_train</a:t>
            </a:r>
            <a:r>
              <a:rPr lang="fr-FR" dirty="0"/>
              <a:t>, </a:t>
            </a:r>
            <a:r>
              <a:rPr lang="fr-FR" dirty="0" err="1"/>
              <a:t>epochs</a:t>
            </a:r>
            <a:r>
              <a:rPr lang="fr-FR" dirty="0"/>
              <a:t>=100, </a:t>
            </a:r>
            <a:r>
              <a:rPr lang="fr-FR" dirty="0" err="1"/>
              <a:t>verbose</a:t>
            </a:r>
            <a:r>
              <a:rPr lang="fr-FR" dirty="0"/>
              <a:t>=1)</a:t>
            </a:r>
          </a:p>
          <a:p>
            <a:endParaRPr lang="en-IN" dirty="0"/>
          </a:p>
        </p:txBody>
      </p:sp>
    </p:spTree>
    <p:extLst>
      <p:ext uri="{BB962C8B-B14F-4D97-AF65-F5344CB8AC3E}">
        <p14:creationId xmlns:p14="http://schemas.microsoft.com/office/powerpoint/2010/main" val="3515956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B728C-F9E1-39F4-A64B-6C5E0A73B0D3}"/>
              </a:ext>
            </a:extLst>
          </p:cNvPr>
          <p:cNvSpPr>
            <a:spLocks noGrp="1"/>
          </p:cNvSpPr>
          <p:nvPr>
            <p:ph type="title"/>
          </p:nvPr>
        </p:nvSpPr>
        <p:spPr/>
        <p:txBody>
          <a:bodyPr/>
          <a:lstStyle/>
          <a:p>
            <a:r>
              <a:rPr lang="en-IN" b="1" dirty="0"/>
              <a:t>Step 9: Evaluate Model</a:t>
            </a:r>
            <a:br>
              <a:rPr lang="en-IN" b="1" dirty="0"/>
            </a:br>
            <a:endParaRPr lang="en-IN" dirty="0"/>
          </a:p>
        </p:txBody>
      </p:sp>
      <p:sp>
        <p:nvSpPr>
          <p:cNvPr id="3" name="Content Placeholder 2">
            <a:extLst>
              <a:ext uri="{FF2B5EF4-FFF2-40B4-BE49-F238E27FC236}">
                <a16:creationId xmlns:a16="http://schemas.microsoft.com/office/drawing/2014/main" id="{7A554848-8ECD-4F71-AC66-9089B2E9B183}"/>
              </a:ext>
            </a:extLst>
          </p:cNvPr>
          <p:cNvSpPr>
            <a:spLocks noGrp="1"/>
          </p:cNvSpPr>
          <p:nvPr>
            <p:ph idx="1"/>
          </p:nvPr>
        </p:nvSpPr>
        <p:spPr/>
        <p:txBody>
          <a:bodyPr/>
          <a:lstStyle/>
          <a:p>
            <a:r>
              <a:rPr lang="en-US" dirty="0"/>
              <a:t>loss, accuracy = </a:t>
            </a:r>
            <a:r>
              <a:rPr lang="en-US" dirty="0" err="1"/>
              <a:t>model.evaluate</a:t>
            </a:r>
            <a:r>
              <a:rPr lang="en-US" dirty="0"/>
              <a:t>(</a:t>
            </a:r>
            <a:r>
              <a:rPr lang="en-US" dirty="0" err="1"/>
              <a:t>X_test</a:t>
            </a:r>
            <a:r>
              <a:rPr lang="en-US" dirty="0"/>
              <a:t>, </a:t>
            </a:r>
            <a:r>
              <a:rPr lang="en-US" dirty="0" err="1"/>
              <a:t>y_test</a:t>
            </a:r>
            <a:r>
              <a:rPr lang="en-US" dirty="0"/>
              <a:t>)</a:t>
            </a:r>
          </a:p>
          <a:p>
            <a:r>
              <a:rPr lang="en-US" dirty="0"/>
              <a:t>print("Accuracy:", accuracy)</a:t>
            </a:r>
          </a:p>
          <a:p>
            <a:endParaRPr lang="en-IN" dirty="0"/>
          </a:p>
        </p:txBody>
      </p:sp>
    </p:spTree>
    <p:extLst>
      <p:ext uri="{BB962C8B-B14F-4D97-AF65-F5344CB8AC3E}">
        <p14:creationId xmlns:p14="http://schemas.microsoft.com/office/powerpoint/2010/main" val="932437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C565-B72F-B74A-B49E-04AE984DFC4C}"/>
              </a:ext>
            </a:extLst>
          </p:cNvPr>
          <p:cNvSpPr>
            <a:spLocks noGrp="1"/>
          </p:cNvSpPr>
          <p:nvPr>
            <p:ph type="title"/>
          </p:nvPr>
        </p:nvSpPr>
        <p:spPr/>
        <p:txBody>
          <a:bodyPr/>
          <a:lstStyle/>
          <a:p>
            <a:r>
              <a:rPr lang="en-US" b="1" dirty="0"/>
              <a:t>Step 10: Predict New Student</a:t>
            </a:r>
            <a:br>
              <a:rPr lang="en-US" b="1" dirty="0"/>
            </a:br>
            <a:endParaRPr lang="en-IN" dirty="0"/>
          </a:p>
        </p:txBody>
      </p:sp>
      <p:sp>
        <p:nvSpPr>
          <p:cNvPr id="3" name="Content Placeholder 2">
            <a:extLst>
              <a:ext uri="{FF2B5EF4-FFF2-40B4-BE49-F238E27FC236}">
                <a16:creationId xmlns:a16="http://schemas.microsoft.com/office/drawing/2014/main" id="{B2B3DA07-626A-E747-DBAD-4D80B1AE0A2B}"/>
              </a:ext>
            </a:extLst>
          </p:cNvPr>
          <p:cNvSpPr>
            <a:spLocks noGrp="1"/>
          </p:cNvSpPr>
          <p:nvPr>
            <p:ph idx="1"/>
          </p:nvPr>
        </p:nvSpPr>
        <p:spPr/>
        <p:txBody>
          <a:bodyPr/>
          <a:lstStyle/>
          <a:p>
            <a:r>
              <a:rPr lang="en-US" dirty="0" err="1"/>
              <a:t>new_student</a:t>
            </a:r>
            <a:r>
              <a:rPr lang="en-US" dirty="0"/>
              <a:t> = </a:t>
            </a:r>
            <a:r>
              <a:rPr lang="en-US" dirty="0" err="1"/>
              <a:t>scaler.transform</a:t>
            </a:r>
            <a:r>
              <a:rPr lang="en-US" dirty="0"/>
              <a:t>([[75, 70, 72]])</a:t>
            </a:r>
          </a:p>
          <a:p>
            <a:r>
              <a:rPr lang="en-US" dirty="0"/>
              <a:t>prediction = </a:t>
            </a:r>
            <a:r>
              <a:rPr lang="en-US" dirty="0" err="1"/>
              <a:t>model.predict</a:t>
            </a:r>
            <a:r>
              <a:rPr lang="en-US" dirty="0"/>
              <a:t>(</a:t>
            </a:r>
            <a:r>
              <a:rPr lang="en-US" dirty="0" err="1"/>
              <a:t>new_student</a:t>
            </a:r>
            <a:r>
              <a:rPr lang="en-US" dirty="0"/>
              <a:t>)</a:t>
            </a:r>
          </a:p>
          <a:p>
            <a:endParaRPr lang="en-US" dirty="0"/>
          </a:p>
          <a:p>
            <a:r>
              <a:rPr lang="en-US" dirty="0"/>
              <a:t>if prediction &gt; 0.5:</a:t>
            </a:r>
          </a:p>
          <a:p>
            <a:r>
              <a:rPr lang="en-US" dirty="0"/>
              <a:t>    print("PASS")</a:t>
            </a:r>
          </a:p>
          <a:p>
            <a:r>
              <a:rPr lang="en-US" dirty="0"/>
              <a:t>else:</a:t>
            </a:r>
          </a:p>
          <a:p>
            <a:r>
              <a:rPr lang="en-US" dirty="0"/>
              <a:t>    print("FAIL")</a:t>
            </a:r>
          </a:p>
          <a:p>
            <a:endParaRPr lang="en-IN" dirty="0"/>
          </a:p>
        </p:txBody>
      </p:sp>
    </p:spTree>
    <p:extLst>
      <p:ext uri="{BB962C8B-B14F-4D97-AF65-F5344CB8AC3E}">
        <p14:creationId xmlns:p14="http://schemas.microsoft.com/office/powerpoint/2010/main" val="1774555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5" descr="convolution_schematic.gif">
            <a:extLst>
              <a:ext uri="{FF2B5EF4-FFF2-40B4-BE49-F238E27FC236}">
                <a16:creationId xmlns:a16="http://schemas.microsoft.com/office/drawing/2014/main" id="{84059E11-153C-96B9-540A-6A3DD64E08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54863" y="3395664"/>
            <a:ext cx="2451100"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8">
            <a:extLst>
              <a:ext uri="{FF2B5EF4-FFF2-40B4-BE49-F238E27FC236}">
                <a16:creationId xmlns:a16="http://schemas.microsoft.com/office/drawing/2014/main" id="{AC7B3B8F-4A05-1F9D-A82B-54D987DEEEC7}"/>
              </a:ext>
            </a:extLst>
          </p:cNvPr>
          <p:cNvSpPr>
            <a:spLocks noChangeArrowheads="1"/>
          </p:cNvSpPr>
          <p:nvPr/>
        </p:nvSpPr>
        <p:spPr bwMode="auto">
          <a:xfrm>
            <a:off x="2286000" y="5365751"/>
            <a:ext cx="7831138"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900" i="1"/>
              <a:t>http://deeplearning.stanford.edu/wiki/index.php/Feature_extraction_using_convolution</a:t>
            </a:r>
          </a:p>
        </p:txBody>
      </p:sp>
      <p:sp>
        <p:nvSpPr>
          <p:cNvPr id="25604" name="Title 1">
            <a:extLst>
              <a:ext uri="{FF2B5EF4-FFF2-40B4-BE49-F238E27FC236}">
                <a16:creationId xmlns:a16="http://schemas.microsoft.com/office/drawing/2014/main" id="{E6A93448-A378-F283-CF1F-42E60A41B860}"/>
              </a:ext>
            </a:extLst>
          </p:cNvPr>
          <p:cNvSpPr txBox="1">
            <a:spLocks/>
          </p:cNvSpPr>
          <p:nvPr/>
        </p:nvSpPr>
        <p:spPr bwMode="auto">
          <a:xfrm>
            <a:off x="2074864" y="182564"/>
            <a:ext cx="80422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4800">
                <a:solidFill>
                  <a:srgbClr val="262626"/>
                </a:solidFill>
                <a:latin typeface="Book Antiqua" panose="02040602050305030304" pitchFamily="18" charset="0"/>
              </a:rPr>
              <a:t>Convolutional Neural Networks (CNNs)</a:t>
            </a:r>
          </a:p>
        </p:txBody>
      </p:sp>
      <p:sp>
        <p:nvSpPr>
          <p:cNvPr id="25605" name="TextBox 11">
            <a:extLst>
              <a:ext uri="{FF2B5EF4-FFF2-40B4-BE49-F238E27FC236}">
                <a16:creationId xmlns:a16="http://schemas.microsoft.com/office/drawing/2014/main" id="{812D20C6-50E7-E325-3221-51994C191518}"/>
              </a:ext>
            </a:extLst>
          </p:cNvPr>
          <p:cNvSpPr txBox="1">
            <a:spLocks noChangeArrowheads="1"/>
          </p:cNvSpPr>
          <p:nvPr/>
        </p:nvSpPr>
        <p:spPr bwMode="auto">
          <a:xfrm>
            <a:off x="1662114" y="1771651"/>
            <a:ext cx="889217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b="1" dirty="0">
                <a:solidFill>
                  <a:schemeClr val="accent2"/>
                </a:solidFill>
              </a:rPr>
              <a:t>Compute vectors for n-grams</a:t>
            </a:r>
            <a:r>
              <a:rPr lang="en-US" altLang="en-US" dirty="0"/>
              <a:t> and group them afterwards</a:t>
            </a:r>
          </a:p>
          <a:p>
            <a:endParaRPr lang="en-US" altLang="en-US" dirty="0"/>
          </a:p>
          <a:p>
            <a:r>
              <a:rPr lang="en-US" altLang="en-US" dirty="0"/>
              <a:t>Example: “this takes too long” compute vectors for: </a:t>
            </a:r>
          </a:p>
          <a:p>
            <a:r>
              <a:rPr lang="en-US" altLang="en-US" dirty="0"/>
              <a:t>This takes, takes too, too long, this takes too, takes too long, this takes too long</a:t>
            </a:r>
          </a:p>
        </p:txBody>
      </p:sp>
      <p:pic>
        <p:nvPicPr>
          <p:cNvPr id="25606" name="Εικόνα 12">
            <a:extLst>
              <a:ext uri="{FF2B5EF4-FFF2-40B4-BE49-F238E27FC236}">
                <a16:creationId xmlns:a16="http://schemas.microsoft.com/office/drawing/2014/main" id="{1B23E398-BD5D-2362-840A-D8F8667BC3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3532188"/>
            <a:ext cx="1447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Εικόνα 13">
            <a:extLst>
              <a:ext uri="{FF2B5EF4-FFF2-40B4-BE49-F238E27FC236}">
                <a16:creationId xmlns:a16="http://schemas.microsoft.com/office/drawing/2014/main" id="{11F127E7-7F7A-8B7D-A402-6F9881BA5D9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10113" y="3817938"/>
            <a:ext cx="8890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TextBox 14">
            <a:extLst>
              <a:ext uri="{FF2B5EF4-FFF2-40B4-BE49-F238E27FC236}">
                <a16:creationId xmlns:a16="http://schemas.microsoft.com/office/drawing/2014/main" id="{29AB911A-D650-BE2E-4B69-DD9BF12DD98A}"/>
              </a:ext>
            </a:extLst>
          </p:cNvPr>
          <p:cNvSpPr txBox="1">
            <a:spLocks noChangeArrowheads="1"/>
          </p:cNvSpPr>
          <p:nvPr/>
        </p:nvSpPr>
        <p:spPr bwMode="auto">
          <a:xfrm>
            <a:off x="2771775" y="4865688"/>
            <a:ext cx="1498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Input matrix</a:t>
            </a:r>
            <a:endParaRPr lang="el-GR" altLang="en-US"/>
          </a:p>
        </p:txBody>
      </p:sp>
      <p:sp>
        <p:nvSpPr>
          <p:cNvPr id="25609" name="TextBox 15">
            <a:extLst>
              <a:ext uri="{FF2B5EF4-FFF2-40B4-BE49-F238E27FC236}">
                <a16:creationId xmlns:a16="http://schemas.microsoft.com/office/drawing/2014/main" id="{38D98693-C443-C787-3BEF-A5EE8E48466F}"/>
              </a:ext>
            </a:extLst>
          </p:cNvPr>
          <p:cNvSpPr txBox="1">
            <a:spLocks noChangeArrowheads="1"/>
          </p:cNvSpPr>
          <p:nvPr/>
        </p:nvSpPr>
        <p:spPr bwMode="auto">
          <a:xfrm>
            <a:off x="4246563" y="4541838"/>
            <a:ext cx="1816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a:t>Convolutional </a:t>
            </a:r>
          </a:p>
          <a:p>
            <a:pPr algn="ctr"/>
            <a:r>
              <a:rPr lang="en-US" altLang="en-US"/>
              <a:t>3x3 filter</a:t>
            </a:r>
            <a:endParaRPr lang="el-GR" altLang="en-US"/>
          </a:p>
        </p:txBody>
      </p:sp>
      <p:sp>
        <p:nvSpPr>
          <p:cNvPr id="17" name="Δεξιό βέλος 16">
            <a:extLst>
              <a:ext uri="{FF2B5EF4-FFF2-40B4-BE49-F238E27FC236}">
                <a16:creationId xmlns:a16="http://schemas.microsoft.com/office/drawing/2014/main" id="{1E8512FE-011F-5F94-8004-16F022492F11}"/>
              </a:ext>
            </a:extLst>
          </p:cNvPr>
          <p:cNvSpPr/>
          <p:nvPr/>
        </p:nvSpPr>
        <p:spPr>
          <a:xfrm>
            <a:off x="6184900" y="3917951"/>
            <a:ext cx="742950" cy="485775"/>
          </a:xfrm>
          <a:prstGeom prst="rightArrow">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endParaRPr lang="el-GR"/>
          </a:p>
        </p:txBody>
      </p:sp>
    </p:spTree>
    <p:extLst>
      <p:ext uri="{BB962C8B-B14F-4D97-AF65-F5344CB8AC3E}">
        <p14:creationId xmlns:p14="http://schemas.microsoft.com/office/powerpoint/2010/main" val="510261313"/>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EB195F12-81F5-E90C-FDD9-170F5B250C67}"/>
              </a:ext>
            </a:extLst>
          </p:cNvPr>
          <p:cNvSpPr txBox="1">
            <a:spLocks/>
          </p:cNvSpPr>
          <p:nvPr/>
        </p:nvSpPr>
        <p:spPr bwMode="auto">
          <a:xfrm>
            <a:off x="2074864" y="182564"/>
            <a:ext cx="80422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4800">
                <a:solidFill>
                  <a:srgbClr val="262626"/>
                </a:solidFill>
                <a:latin typeface="Book Antiqua" panose="02040602050305030304" pitchFamily="18" charset="0"/>
              </a:rPr>
              <a:t>Convolutional Neural Networks (CNNs)</a:t>
            </a:r>
          </a:p>
        </p:txBody>
      </p:sp>
      <p:sp>
        <p:nvSpPr>
          <p:cNvPr id="26627" name="TextBox 11">
            <a:extLst>
              <a:ext uri="{FF2B5EF4-FFF2-40B4-BE49-F238E27FC236}">
                <a16:creationId xmlns:a16="http://schemas.microsoft.com/office/drawing/2014/main" id="{C2B75903-EFDC-6832-D118-FD413A307597}"/>
              </a:ext>
            </a:extLst>
          </p:cNvPr>
          <p:cNvSpPr txBox="1">
            <a:spLocks noChangeArrowheads="1"/>
          </p:cNvSpPr>
          <p:nvPr/>
        </p:nvSpPr>
        <p:spPr bwMode="auto">
          <a:xfrm>
            <a:off x="1662113" y="1771651"/>
            <a:ext cx="65897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Main CNN idea for text:</a:t>
            </a:r>
          </a:p>
          <a:p>
            <a:r>
              <a:rPr lang="en-US" altLang="en-US"/>
              <a:t>Compute vectors for n-grams and </a:t>
            </a:r>
            <a:r>
              <a:rPr lang="en-US" altLang="en-US" b="1">
                <a:solidFill>
                  <a:schemeClr val="accent2"/>
                </a:solidFill>
              </a:rPr>
              <a:t>group them afterwards</a:t>
            </a:r>
          </a:p>
        </p:txBody>
      </p:sp>
      <p:pic>
        <p:nvPicPr>
          <p:cNvPr id="26628" name="Εικόνα 8">
            <a:extLst>
              <a:ext uri="{FF2B5EF4-FFF2-40B4-BE49-F238E27FC236}">
                <a16:creationId xmlns:a16="http://schemas.microsoft.com/office/drawing/2014/main" id="{74F45B56-3A15-5491-52BF-B8E5EB89C06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9739" y="2716213"/>
            <a:ext cx="5443537"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Ορθογώνιο 1">
            <a:extLst>
              <a:ext uri="{FF2B5EF4-FFF2-40B4-BE49-F238E27FC236}">
                <a16:creationId xmlns:a16="http://schemas.microsoft.com/office/drawing/2014/main" id="{CDB2BE2C-29DE-16CF-9461-60040CB7C614}"/>
              </a:ext>
            </a:extLst>
          </p:cNvPr>
          <p:cNvSpPr>
            <a:spLocks noChangeArrowheads="1"/>
          </p:cNvSpPr>
          <p:nvPr/>
        </p:nvSpPr>
        <p:spPr bwMode="auto">
          <a:xfrm>
            <a:off x="3933825" y="6121400"/>
            <a:ext cx="457200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900" i="1">
                <a:latin typeface="Arial" panose="020B0604020202020204" pitchFamily="34" charset="0"/>
              </a:rPr>
              <a:t>https://shafeentejani.github.io/assets/images/pooling.gif</a:t>
            </a:r>
          </a:p>
        </p:txBody>
      </p:sp>
      <p:sp>
        <p:nvSpPr>
          <p:cNvPr id="26630" name="TextBox 3">
            <a:extLst>
              <a:ext uri="{FF2B5EF4-FFF2-40B4-BE49-F238E27FC236}">
                <a16:creationId xmlns:a16="http://schemas.microsoft.com/office/drawing/2014/main" id="{84BAB38A-2286-1B4B-F75C-9CEF9E515A89}"/>
              </a:ext>
            </a:extLst>
          </p:cNvPr>
          <p:cNvSpPr txBox="1">
            <a:spLocks noChangeArrowheads="1"/>
          </p:cNvSpPr>
          <p:nvPr/>
        </p:nvSpPr>
        <p:spPr bwMode="auto">
          <a:xfrm>
            <a:off x="5737226" y="3565526"/>
            <a:ext cx="119856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sz="1400"/>
              <a:t>max pool</a:t>
            </a:r>
          </a:p>
          <a:p>
            <a:r>
              <a:rPr lang="en-US" altLang="en-US" sz="1400"/>
              <a:t>2x2 filters </a:t>
            </a:r>
          </a:p>
          <a:p>
            <a:r>
              <a:rPr lang="en-US" altLang="en-US" sz="1400"/>
              <a:t>and stride 2</a:t>
            </a:r>
            <a:endParaRPr lang="el-GR" altLang="en-US" sz="1400"/>
          </a:p>
        </p:txBody>
      </p:sp>
      <p:cxnSp>
        <p:nvCxnSpPr>
          <p:cNvPr id="16" name="Ευθύγραμμο βέλος σύνδεσης 15">
            <a:extLst>
              <a:ext uri="{FF2B5EF4-FFF2-40B4-BE49-F238E27FC236}">
                <a16:creationId xmlns:a16="http://schemas.microsoft.com/office/drawing/2014/main" id="{EFDE8915-7524-FF3A-EAEA-4BC22AA3A1B5}"/>
              </a:ext>
            </a:extLst>
          </p:cNvPr>
          <p:cNvCxnSpPr/>
          <p:nvPr/>
        </p:nvCxnSpPr>
        <p:spPr>
          <a:xfrm>
            <a:off x="5772150" y="4348163"/>
            <a:ext cx="1200150" cy="12700"/>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62152220"/>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D325B2CF-8568-E2EF-6EF9-AAEDD74E644B}"/>
              </a:ext>
            </a:extLst>
          </p:cNvPr>
          <p:cNvSpPr>
            <a:spLocks noChangeArrowheads="1"/>
          </p:cNvSpPr>
          <p:nvPr/>
        </p:nvSpPr>
        <p:spPr bwMode="auto">
          <a:xfrm>
            <a:off x="2074864" y="6083301"/>
            <a:ext cx="78438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1200"/>
              <a:t>Severyn, Aliaksei, and Alessandro Moschitti. "UNITN: Training Deep Convolutional Neural Network for Twitter Sentiment Classification." </a:t>
            </a:r>
            <a:r>
              <a:rPr lang="en-US" altLang="en-US" sz="1200" i="1"/>
              <a:t>SemEval@ NAACL-HLT</a:t>
            </a:r>
            <a:r>
              <a:rPr lang="en-US" altLang="en-US" sz="1200"/>
              <a:t>. 2015.</a:t>
            </a:r>
            <a:endParaRPr lang="en-US" altLang="en-US" sz="1200" i="1">
              <a:latin typeface="Arial" panose="020B0604020202020204" pitchFamily="34" charset="0"/>
            </a:endParaRPr>
          </a:p>
        </p:txBody>
      </p:sp>
      <p:sp>
        <p:nvSpPr>
          <p:cNvPr id="27651" name="Title 1">
            <a:extLst>
              <a:ext uri="{FF2B5EF4-FFF2-40B4-BE49-F238E27FC236}">
                <a16:creationId xmlns:a16="http://schemas.microsoft.com/office/drawing/2014/main" id="{3B20DAF0-C10F-803B-7EC7-74EEBF34F875}"/>
              </a:ext>
            </a:extLst>
          </p:cNvPr>
          <p:cNvSpPr txBox="1">
            <a:spLocks/>
          </p:cNvSpPr>
          <p:nvPr/>
        </p:nvSpPr>
        <p:spPr bwMode="auto">
          <a:xfrm>
            <a:off x="2074864" y="182564"/>
            <a:ext cx="80422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4800">
                <a:solidFill>
                  <a:srgbClr val="262626"/>
                </a:solidFill>
                <a:latin typeface="Book Antiqua" panose="02040602050305030304" pitchFamily="18" charset="0"/>
              </a:rPr>
              <a:t>CNN for text classification</a:t>
            </a:r>
          </a:p>
        </p:txBody>
      </p:sp>
      <p:pic>
        <p:nvPicPr>
          <p:cNvPr id="27652" name="Εικόνα 6">
            <a:extLst>
              <a:ext uri="{FF2B5EF4-FFF2-40B4-BE49-F238E27FC236}">
                <a16:creationId xmlns:a16="http://schemas.microsoft.com/office/drawing/2014/main" id="{CD49630F-8650-A38C-5693-21B02CBD49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3300" y="1706564"/>
            <a:ext cx="7645400" cy="404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157112"/>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E35A0B4C-55B2-B9E6-DFAC-C14655975953}"/>
              </a:ext>
            </a:extLst>
          </p:cNvPr>
          <p:cNvSpPr txBox="1">
            <a:spLocks/>
          </p:cNvSpPr>
          <p:nvPr/>
        </p:nvSpPr>
        <p:spPr bwMode="auto">
          <a:xfrm>
            <a:off x="2074864" y="182564"/>
            <a:ext cx="8042275"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algn="ctr"/>
            <a:r>
              <a:rPr lang="en-US" altLang="en-US" sz="4800">
                <a:solidFill>
                  <a:srgbClr val="262626"/>
                </a:solidFill>
                <a:latin typeface="Book Antiqua" panose="02040602050305030304" pitchFamily="18" charset="0"/>
              </a:rPr>
              <a:t>CNN with multiple filters</a:t>
            </a:r>
          </a:p>
        </p:txBody>
      </p:sp>
      <p:pic>
        <p:nvPicPr>
          <p:cNvPr id="28675" name="Εικόνα 6">
            <a:extLst>
              <a:ext uri="{FF2B5EF4-FFF2-40B4-BE49-F238E27FC236}">
                <a16:creationId xmlns:a16="http://schemas.microsoft.com/office/drawing/2014/main" id="{89F45308-AAD8-7BCD-DB4A-114AC28726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87538" y="1752600"/>
            <a:ext cx="8229600"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Ορθογώνιο 7">
            <a:extLst>
              <a:ext uri="{FF2B5EF4-FFF2-40B4-BE49-F238E27FC236}">
                <a16:creationId xmlns:a16="http://schemas.microsoft.com/office/drawing/2014/main" id="{8FD7D272-F8AA-93B8-096A-C4BFDFE69A9C}"/>
              </a:ext>
            </a:extLst>
          </p:cNvPr>
          <p:cNvSpPr>
            <a:spLocks noChangeArrowheads="1"/>
          </p:cNvSpPr>
          <p:nvPr/>
        </p:nvSpPr>
        <p:spPr bwMode="auto">
          <a:xfrm>
            <a:off x="3213100" y="4935539"/>
            <a:ext cx="63071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sz="1200" i="1">
                <a:latin typeface="Arial" panose="020B0604020202020204" pitchFamily="34" charset="0"/>
              </a:rPr>
              <a:t>Kim, Y. “Convolutional Neural Networks for Sentence Classification”, EMNLP (2014)</a:t>
            </a:r>
            <a:endParaRPr lang="el-GR" altLang="en-US" i="1"/>
          </a:p>
        </p:txBody>
      </p:sp>
      <p:sp>
        <p:nvSpPr>
          <p:cNvPr id="28677" name="Ορθογώνιο 8">
            <a:extLst>
              <a:ext uri="{FF2B5EF4-FFF2-40B4-BE49-F238E27FC236}">
                <a16:creationId xmlns:a16="http://schemas.microsoft.com/office/drawing/2014/main" id="{CF68B444-34A9-DA71-F5DE-6A8BB7FEF12E}"/>
              </a:ext>
            </a:extLst>
          </p:cNvPr>
          <p:cNvSpPr>
            <a:spLocks noChangeArrowheads="1"/>
          </p:cNvSpPr>
          <p:nvPr/>
        </p:nvSpPr>
        <p:spPr bwMode="auto">
          <a:xfrm>
            <a:off x="4222750" y="5678489"/>
            <a:ext cx="4287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r>
              <a:rPr lang="en-US" altLang="en-US"/>
              <a:t>sliding over 3, 4 or 5 words at a time </a:t>
            </a:r>
          </a:p>
        </p:txBody>
      </p:sp>
    </p:spTree>
    <p:extLst>
      <p:ext uri="{BB962C8B-B14F-4D97-AF65-F5344CB8AC3E}">
        <p14:creationId xmlns:p14="http://schemas.microsoft.com/office/powerpoint/2010/main" val="2937250696"/>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BDBCC-FAEF-18A1-ECC7-3851EB349AFB}"/>
              </a:ext>
            </a:extLst>
          </p:cNvPr>
          <p:cNvSpPr>
            <a:spLocks noGrp="1"/>
          </p:cNvSpPr>
          <p:nvPr>
            <p:ph type="title"/>
          </p:nvPr>
        </p:nvSpPr>
        <p:spPr/>
        <p:txBody>
          <a:bodyPr/>
          <a:lstStyle/>
          <a:p>
            <a:r>
              <a:rPr lang="en-IN" dirty="0"/>
              <a:t>Deep Neural Network</a:t>
            </a:r>
          </a:p>
        </p:txBody>
      </p:sp>
      <p:sp>
        <p:nvSpPr>
          <p:cNvPr id="3" name="Content Placeholder 2">
            <a:extLst>
              <a:ext uri="{FF2B5EF4-FFF2-40B4-BE49-F238E27FC236}">
                <a16:creationId xmlns:a16="http://schemas.microsoft.com/office/drawing/2014/main" id="{C0B1E625-73D7-4EE0-4B10-ABA68779CA73}"/>
              </a:ext>
            </a:extLst>
          </p:cNvPr>
          <p:cNvSpPr>
            <a:spLocks noGrp="1"/>
          </p:cNvSpPr>
          <p:nvPr>
            <p:ph idx="1"/>
          </p:nvPr>
        </p:nvSpPr>
        <p:spPr/>
        <p:txBody>
          <a:bodyPr/>
          <a:lstStyle/>
          <a:p>
            <a:r>
              <a:rPr lang="en-US" b="1" dirty="0"/>
              <a:t>Convolutional Neural Network (CNN)</a:t>
            </a:r>
            <a:r>
              <a:rPr lang="en-US" dirty="0"/>
              <a:t> is a deep learning model mainly used for </a:t>
            </a:r>
            <a:r>
              <a:rPr lang="en-US" b="1" dirty="0"/>
              <a:t>image data</a:t>
            </a:r>
            <a:r>
              <a:rPr lang="en-US" dirty="0"/>
              <a:t>.</a:t>
            </a:r>
            <a:br>
              <a:rPr lang="en-US" dirty="0"/>
            </a:br>
            <a:r>
              <a:rPr lang="en-US" dirty="0"/>
              <a:t>Unlike traditional neural networks, CNNs </a:t>
            </a:r>
            <a:r>
              <a:rPr lang="en-US" b="1" dirty="0"/>
              <a:t>automatically extract features</a:t>
            </a:r>
            <a:r>
              <a:rPr lang="en-US" dirty="0"/>
              <a:t> such as edges, textures, and shapes.</a:t>
            </a:r>
          </a:p>
          <a:p>
            <a:endParaRPr lang="en-IN" dirty="0"/>
          </a:p>
        </p:txBody>
      </p:sp>
      <p:graphicFrame>
        <p:nvGraphicFramePr>
          <p:cNvPr id="4" name="Table 3">
            <a:extLst>
              <a:ext uri="{FF2B5EF4-FFF2-40B4-BE49-F238E27FC236}">
                <a16:creationId xmlns:a16="http://schemas.microsoft.com/office/drawing/2014/main" id="{73B05C4B-184E-5B75-55C1-E360B8C4104D}"/>
              </a:ext>
            </a:extLst>
          </p:cNvPr>
          <p:cNvGraphicFramePr>
            <a:graphicFrameLocks noGrp="1"/>
          </p:cNvGraphicFramePr>
          <p:nvPr/>
        </p:nvGraphicFramePr>
        <p:xfrm>
          <a:off x="677863" y="3369786"/>
          <a:ext cx="8596312" cy="1463040"/>
        </p:xfrm>
        <a:graphic>
          <a:graphicData uri="http://schemas.openxmlformats.org/drawingml/2006/table">
            <a:tbl>
              <a:tblPr/>
              <a:tblGrid>
                <a:gridCol w="4298156">
                  <a:extLst>
                    <a:ext uri="{9D8B030D-6E8A-4147-A177-3AD203B41FA5}">
                      <a16:colId xmlns:a16="http://schemas.microsoft.com/office/drawing/2014/main" val="3318488594"/>
                    </a:ext>
                  </a:extLst>
                </a:gridCol>
                <a:gridCol w="4298156">
                  <a:extLst>
                    <a:ext uri="{9D8B030D-6E8A-4147-A177-3AD203B41FA5}">
                      <a16:colId xmlns:a16="http://schemas.microsoft.com/office/drawing/2014/main" val="2044397696"/>
                    </a:ext>
                  </a:extLst>
                </a:gridCol>
              </a:tblGrid>
              <a:tr h="0">
                <a:tc>
                  <a:txBody>
                    <a:bodyPr/>
                    <a:lstStyle/>
                    <a:p>
                      <a:pPr>
                        <a:buNone/>
                      </a:pPr>
                      <a:r>
                        <a:rPr lang="en-IN"/>
                        <a:t>ANN</a:t>
                      </a:r>
                    </a:p>
                  </a:txBody>
                  <a:tcPr anchor="ctr">
                    <a:lnL>
                      <a:noFill/>
                    </a:lnL>
                    <a:lnR>
                      <a:noFill/>
                    </a:lnR>
                    <a:lnT>
                      <a:noFill/>
                    </a:lnT>
                    <a:lnB>
                      <a:noFill/>
                    </a:lnB>
                    <a:noFill/>
                  </a:tcPr>
                </a:tc>
                <a:tc>
                  <a:txBody>
                    <a:bodyPr/>
                    <a:lstStyle/>
                    <a:p>
                      <a:pPr>
                        <a:buNone/>
                      </a:pPr>
                      <a:r>
                        <a:rPr lang="en-IN"/>
                        <a:t>CNN</a:t>
                      </a:r>
                    </a:p>
                  </a:txBody>
                  <a:tcPr anchor="ctr">
                    <a:lnL>
                      <a:noFill/>
                    </a:lnL>
                    <a:lnR>
                      <a:noFill/>
                    </a:lnR>
                    <a:lnT>
                      <a:noFill/>
                    </a:lnT>
                    <a:lnB>
                      <a:noFill/>
                    </a:lnB>
                    <a:noFill/>
                  </a:tcPr>
                </a:tc>
                <a:extLst>
                  <a:ext uri="{0D108BD9-81ED-4DB2-BD59-A6C34878D82A}">
                    <a16:rowId xmlns:a16="http://schemas.microsoft.com/office/drawing/2014/main" val="3214268903"/>
                  </a:ext>
                </a:extLst>
              </a:tr>
              <a:tr h="0">
                <a:tc>
                  <a:txBody>
                    <a:bodyPr/>
                    <a:lstStyle/>
                    <a:p>
                      <a:pPr>
                        <a:buNone/>
                      </a:pPr>
                      <a:r>
                        <a:rPr lang="en-IN"/>
                        <a:t>Needs manual feature extraction</a:t>
                      </a:r>
                    </a:p>
                  </a:txBody>
                  <a:tcPr anchor="ctr">
                    <a:lnL>
                      <a:noFill/>
                    </a:lnL>
                    <a:lnR>
                      <a:noFill/>
                    </a:lnR>
                    <a:lnT>
                      <a:noFill/>
                    </a:lnT>
                    <a:lnB>
                      <a:noFill/>
                    </a:lnB>
                    <a:noFill/>
                  </a:tcPr>
                </a:tc>
                <a:tc>
                  <a:txBody>
                    <a:bodyPr/>
                    <a:lstStyle/>
                    <a:p>
                      <a:pPr>
                        <a:buNone/>
                      </a:pPr>
                      <a:r>
                        <a:rPr lang="en-IN"/>
                        <a:t>Automatically learns features</a:t>
                      </a:r>
                    </a:p>
                  </a:txBody>
                  <a:tcPr anchor="ctr">
                    <a:lnL>
                      <a:noFill/>
                    </a:lnL>
                    <a:lnR>
                      <a:noFill/>
                    </a:lnR>
                    <a:lnT>
                      <a:noFill/>
                    </a:lnT>
                    <a:lnB>
                      <a:noFill/>
                    </a:lnB>
                    <a:noFill/>
                  </a:tcPr>
                </a:tc>
                <a:extLst>
                  <a:ext uri="{0D108BD9-81ED-4DB2-BD59-A6C34878D82A}">
                    <a16:rowId xmlns:a16="http://schemas.microsoft.com/office/drawing/2014/main" val="1180068936"/>
                  </a:ext>
                </a:extLst>
              </a:tr>
              <a:tr h="0">
                <a:tc>
                  <a:txBody>
                    <a:bodyPr/>
                    <a:lstStyle/>
                    <a:p>
                      <a:pPr>
                        <a:buNone/>
                      </a:pPr>
                      <a:r>
                        <a:rPr lang="en-IN"/>
                        <a:t>High parameters for images</a:t>
                      </a:r>
                    </a:p>
                  </a:txBody>
                  <a:tcPr anchor="ctr">
                    <a:lnL>
                      <a:noFill/>
                    </a:lnL>
                    <a:lnR>
                      <a:noFill/>
                    </a:lnR>
                    <a:lnT>
                      <a:noFill/>
                    </a:lnT>
                    <a:lnB>
                      <a:noFill/>
                    </a:lnB>
                    <a:noFill/>
                  </a:tcPr>
                </a:tc>
                <a:tc>
                  <a:txBody>
                    <a:bodyPr/>
                    <a:lstStyle/>
                    <a:p>
                      <a:pPr>
                        <a:buNone/>
                      </a:pPr>
                      <a:r>
                        <a:rPr lang="en-IN"/>
                        <a:t>Fewer parameters</a:t>
                      </a:r>
                    </a:p>
                  </a:txBody>
                  <a:tcPr anchor="ctr">
                    <a:lnL>
                      <a:noFill/>
                    </a:lnL>
                    <a:lnR>
                      <a:noFill/>
                    </a:lnR>
                    <a:lnT>
                      <a:noFill/>
                    </a:lnT>
                    <a:lnB>
                      <a:noFill/>
                    </a:lnB>
                    <a:noFill/>
                  </a:tcPr>
                </a:tc>
                <a:extLst>
                  <a:ext uri="{0D108BD9-81ED-4DB2-BD59-A6C34878D82A}">
                    <a16:rowId xmlns:a16="http://schemas.microsoft.com/office/drawing/2014/main" val="3740673291"/>
                  </a:ext>
                </a:extLst>
              </a:tr>
              <a:tr h="0">
                <a:tc>
                  <a:txBody>
                    <a:bodyPr/>
                    <a:lstStyle/>
                    <a:p>
                      <a:pPr>
                        <a:buNone/>
                      </a:pPr>
                      <a:r>
                        <a:rPr lang="en-IN"/>
                        <a:t>Not spatially aware</a:t>
                      </a:r>
                    </a:p>
                  </a:txBody>
                  <a:tcPr anchor="ctr">
                    <a:lnL>
                      <a:noFill/>
                    </a:lnL>
                    <a:lnR>
                      <a:noFill/>
                    </a:lnR>
                    <a:lnT>
                      <a:noFill/>
                    </a:lnT>
                    <a:lnB>
                      <a:noFill/>
                    </a:lnB>
                    <a:noFill/>
                  </a:tcPr>
                </a:tc>
                <a:tc>
                  <a:txBody>
                    <a:bodyPr/>
                    <a:lstStyle/>
                    <a:p>
                      <a:pPr>
                        <a:buNone/>
                      </a:pPr>
                      <a:r>
                        <a:rPr lang="en-IN" dirty="0"/>
                        <a:t>Preserves spatial structure</a:t>
                      </a:r>
                    </a:p>
                  </a:txBody>
                  <a:tcPr anchor="ctr">
                    <a:lnL>
                      <a:noFill/>
                    </a:lnL>
                    <a:lnR>
                      <a:noFill/>
                    </a:lnR>
                    <a:lnT>
                      <a:noFill/>
                    </a:lnT>
                    <a:lnB>
                      <a:noFill/>
                    </a:lnB>
                    <a:noFill/>
                  </a:tcPr>
                </a:tc>
                <a:extLst>
                  <a:ext uri="{0D108BD9-81ED-4DB2-BD59-A6C34878D82A}">
                    <a16:rowId xmlns:a16="http://schemas.microsoft.com/office/drawing/2014/main" val="2568546104"/>
                  </a:ext>
                </a:extLst>
              </a:tr>
            </a:tbl>
          </a:graphicData>
        </a:graphic>
      </p:graphicFrame>
    </p:spTree>
    <p:extLst>
      <p:ext uri="{BB962C8B-B14F-4D97-AF65-F5344CB8AC3E}">
        <p14:creationId xmlns:p14="http://schemas.microsoft.com/office/powerpoint/2010/main" val="2836666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3A58D-862D-1353-2022-1F1E146D9063}"/>
              </a:ext>
            </a:extLst>
          </p:cNvPr>
          <p:cNvSpPr>
            <a:spLocks noGrp="1"/>
          </p:cNvSpPr>
          <p:nvPr>
            <p:ph type="title"/>
          </p:nvPr>
        </p:nvSpPr>
        <p:spPr/>
        <p:txBody>
          <a:bodyPr/>
          <a:lstStyle/>
          <a:p>
            <a:r>
              <a:rPr lang="en-IN" dirty="0" err="1"/>
              <a:t>Architechture</a:t>
            </a:r>
            <a:endParaRPr lang="en-IN" dirty="0"/>
          </a:p>
        </p:txBody>
      </p:sp>
      <p:sp>
        <p:nvSpPr>
          <p:cNvPr id="3" name="Content Placeholder 2">
            <a:extLst>
              <a:ext uri="{FF2B5EF4-FFF2-40B4-BE49-F238E27FC236}">
                <a16:creationId xmlns:a16="http://schemas.microsoft.com/office/drawing/2014/main" id="{11D285D5-C3CE-C484-E0F8-29CE1B121C02}"/>
              </a:ext>
            </a:extLst>
          </p:cNvPr>
          <p:cNvSpPr>
            <a:spLocks noGrp="1"/>
          </p:cNvSpPr>
          <p:nvPr>
            <p:ph idx="1"/>
          </p:nvPr>
        </p:nvSpPr>
        <p:spPr/>
        <p:txBody>
          <a:bodyPr>
            <a:normAutofit fontScale="77500" lnSpcReduction="20000"/>
          </a:bodyPr>
          <a:lstStyle/>
          <a:p>
            <a:r>
              <a:rPr lang="en-IN" dirty="0"/>
              <a:t>Input Image</a:t>
            </a:r>
          </a:p>
          <a:p>
            <a:r>
              <a:rPr lang="en-IN" dirty="0"/>
              <a:t>   ↓</a:t>
            </a:r>
          </a:p>
          <a:p>
            <a:r>
              <a:rPr lang="en-IN" dirty="0"/>
              <a:t>Convolution Layer</a:t>
            </a:r>
          </a:p>
          <a:p>
            <a:r>
              <a:rPr lang="en-IN" dirty="0"/>
              <a:t>   ↓</a:t>
            </a:r>
          </a:p>
          <a:p>
            <a:r>
              <a:rPr lang="en-IN" dirty="0" err="1"/>
              <a:t>ReLU</a:t>
            </a:r>
            <a:r>
              <a:rPr lang="en-IN" dirty="0"/>
              <a:t> Activation</a:t>
            </a:r>
          </a:p>
          <a:p>
            <a:r>
              <a:rPr lang="en-IN" dirty="0"/>
              <a:t>   ↓</a:t>
            </a:r>
          </a:p>
          <a:p>
            <a:r>
              <a:rPr lang="en-IN" dirty="0"/>
              <a:t>Pooling Layer</a:t>
            </a:r>
          </a:p>
          <a:p>
            <a:r>
              <a:rPr lang="en-IN" dirty="0"/>
              <a:t>   ↓</a:t>
            </a:r>
          </a:p>
          <a:p>
            <a:r>
              <a:rPr lang="en-IN" dirty="0"/>
              <a:t>Flatten</a:t>
            </a:r>
          </a:p>
          <a:p>
            <a:r>
              <a:rPr lang="en-IN" dirty="0"/>
              <a:t>   ↓</a:t>
            </a:r>
          </a:p>
          <a:p>
            <a:r>
              <a:rPr lang="en-IN" dirty="0"/>
              <a:t>Fully Connected (Dense)</a:t>
            </a:r>
          </a:p>
          <a:p>
            <a:r>
              <a:rPr lang="en-IN" dirty="0"/>
              <a:t>   ↓</a:t>
            </a:r>
          </a:p>
          <a:p>
            <a:r>
              <a:rPr lang="en-IN" dirty="0"/>
              <a:t>Output (Prediction)</a:t>
            </a:r>
          </a:p>
          <a:p>
            <a:endParaRPr lang="en-IN" dirty="0"/>
          </a:p>
          <a:p>
            <a:endParaRPr lang="en-IN" dirty="0"/>
          </a:p>
        </p:txBody>
      </p:sp>
    </p:spTree>
    <p:extLst>
      <p:ext uri="{BB962C8B-B14F-4D97-AF65-F5344CB8AC3E}">
        <p14:creationId xmlns:p14="http://schemas.microsoft.com/office/powerpoint/2010/main" val="2727545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C412-717C-CF47-E964-6481BE0F52C5}"/>
              </a:ext>
            </a:extLst>
          </p:cNvPr>
          <p:cNvSpPr>
            <a:spLocks noGrp="1"/>
          </p:cNvSpPr>
          <p:nvPr>
            <p:ph type="title"/>
          </p:nvPr>
        </p:nvSpPr>
        <p:spPr/>
        <p:txBody>
          <a:bodyPr/>
          <a:lstStyle/>
          <a:p>
            <a:r>
              <a:rPr lang="en-IN" dirty="0"/>
              <a:t>Step1 :Input Layer</a:t>
            </a:r>
          </a:p>
        </p:txBody>
      </p:sp>
      <p:sp>
        <p:nvSpPr>
          <p:cNvPr id="3" name="Content Placeholder 2">
            <a:extLst>
              <a:ext uri="{FF2B5EF4-FFF2-40B4-BE49-F238E27FC236}">
                <a16:creationId xmlns:a16="http://schemas.microsoft.com/office/drawing/2014/main" id="{78CF6200-A7C0-7386-AF36-FED6C7C4B8AA}"/>
              </a:ext>
            </a:extLst>
          </p:cNvPr>
          <p:cNvSpPr>
            <a:spLocks noGrp="1"/>
          </p:cNvSpPr>
          <p:nvPr>
            <p:ph idx="1"/>
          </p:nvPr>
        </p:nvSpPr>
        <p:spPr/>
        <p:txBody>
          <a:bodyPr/>
          <a:lstStyle/>
          <a:p>
            <a:r>
              <a:rPr lang="en-US" b="1" dirty="0"/>
              <a:t>TEP 1: Input Layer</a:t>
            </a:r>
          </a:p>
          <a:p>
            <a:r>
              <a:rPr lang="en-US" dirty="0"/>
              <a:t>Input is an image matrix</a:t>
            </a:r>
          </a:p>
          <a:p>
            <a:r>
              <a:rPr lang="en-US" dirty="0"/>
              <a:t>Example: </a:t>
            </a:r>
            <a:r>
              <a:rPr lang="en-US" b="1" dirty="0"/>
              <a:t>28×28×1</a:t>
            </a:r>
            <a:r>
              <a:rPr lang="en-US" dirty="0"/>
              <a:t> (MNIST grayscale image)</a:t>
            </a:r>
          </a:p>
          <a:p>
            <a:r>
              <a:rPr lang="en-IN" dirty="0"/>
              <a:t>Height × Width × Channels</a:t>
            </a:r>
          </a:p>
          <a:p>
            <a:endParaRPr lang="en-IN" dirty="0"/>
          </a:p>
        </p:txBody>
      </p:sp>
    </p:spTree>
    <p:extLst>
      <p:ext uri="{BB962C8B-B14F-4D97-AF65-F5344CB8AC3E}">
        <p14:creationId xmlns:p14="http://schemas.microsoft.com/office/powerpoint/2010/main" val="3479128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1E187-3B6B-1531-AC48-EE1E357C1485}"/>
              </a:ext>
            </a:extLst>
          </p:cNvPr>
          <p:cNvSpPr>
            <a:spLocks noGrp="1"/>
          </p:cNvSpPr>
          <p:nvPr>
            <p:ph type="title"/>
          </p:nvPr>
        </p:nvSpPr>
        <p:spPr/>
        <p:txBody>
          <a:bodyPr/>
          <a:lstStyle/>
          <a:p>
            <a:r>
              <a:rPr lang="en-IN" dirty="0" err="1"/>
              <a:t>Convoltuion</a:t>
            </a:r>
            <a:r>
              <a:rPr lang="en-IN" dirty="0"/>
              <a:t> Layer</a:t>
            </a:r>
          </a:p>
        </p:txBody>
      </p:sp>
      <p:sp>
        <p:nvSpPr>
          <p:cNvPr id="3" name="Content Placeholder 2">
            <a:extLst>
              <a:ext uri="{FF2B5EF4-FFF2-40B4-BE49-F238E27FC236}">
                <a16:creationId xmlns:a16="http://schemas.microsoft.com/office/drawing/2014/main" id="{7FBE0FC6-6DAC-F6BC-68A7-604317F03436}"/>
              </a:ext>
            </a:extLst>
          </p:cNvPr>
          <p:cNvSpPr>
            <a:spLocks noGrp="1"/>
          </p:cNvSpPr>
          <p:nvPr>
            <p:ph idx="1"/>
          </p:nvPr>
        </p:nvSpPr>
        <p:spPr/>
        <p:txBody>
          <a:bodyPr/>
          <a:lstStyle/>
          <a:p>
            <a:r>
              <a:rPr lang="en-US" b="1" dirty="0"/>
              <a:t>STEP 2: Convolution Layer</a:t>
            </a:r>
          </a:p>
          <a:p>
            <a:r>
              <a:rPr lang="en-US" dirty="0"/>
              <a:t>Uses </a:t>
            </a:r>
            <a:r>
              <a:rPr lang="en-US" b="1" dirty="0"/>
              <a:t>filters (kernels)</a:t>
            </a:r>
            <a:r>
              <a:rPr lang="en-US" dirty="0"/>
              <a:t> to detect features (edges, corners)</a:t>
            </a:r>
          </a:p>
          <a:p>
            <a:r>
              <a:rPr lang="en-US" dirty="0"/>
              <a:t>Performs dot product between filter &amp; image patch</a:t>
            </a:r>
          </a:p>
          <a:p>
            <a:r>
              <a:rPr lang="en-IN" dirty="0"/>
              <a:t>Feature Map = Image ⊗ Filter</a:t>
            </a:r>
          </a:p>
          <a:p>
            <a:r>
              <a:rPr lang="en-IN" dirty="0"/>
              <a:t>Syntax:</a:t>
            </a:r>
          </a:p>
          <a:p>
            <a:r>
              <a:rPr lang="en-IN" dirty="0"/>
              <a:t>Conv2D(filters=32, </a:t>
            </a:r>
            <a:r>
              <a:rPr lang="en-IN" dirty="0" err="1"/>
              <a:t>kernel_size</a:t>
            </a:r>
            <a:r>
              <a:rPr lang="en-IN" dirty="0"/>
              <a:t>=(3,3), strides=1, padding='same')</a:t>
            </a:r>
          </a:p>
          <a:p>
            <a:endParaRPr lang="en-IN" dirty="0"/>
          </a:p>
        </p:txBody>
      </p:sp>
    </p:spTree>
    <p:extLst>
      <p:ext uri="{BB962C8B-B14F-4D97-AF65-F5344CB8AC3E}">
        <p14:creationId xmlns:p14="http://schemas.microsoft.com/office/powerpoint/2010/main" val="3715870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D656-F4F1-7C06-114E-CC3859A84FA3}"/>
              </a:ext>
            </a:extLst>
          </p:cNvPr>
          <p:cNvSpPr>
            <a:spLocks noGrp="1"/>
          </p:cNvSpPr>
          <p:nvPr>
            <p:ph type="title"/>
          </p:nvPr>
        </p:nvSpPr>
        <p:spPr/>
        <p:txBody>
          <a:bodyPr/>
          <a:lstStyle/>
          <a:p>
            <a:r>
              <a:rPr lang="en-US" b="1" dirty="0"/>
              <a:t>STEP 3: Activation Function (</a:t>
            </a:r>
            <a:r>
              <a:rPr lang="en-US" b="1" dirty="0" err="1"/>
              <a:t>ReLU</a:t>
            </a:r>
            <a:r>
              <a:rPr lang="en-US" b="1" dirty="0"/>
              <a:t>)</a:t>
            </a:r>
            <a:br>
              <a:rPr lang="en-US" b="1" dirty="0"/>
            </a:br>
            <a:endParaRPr lang="en-IN" dirty="0"/>
          </a:p>
        </p:txBody>
      </p:sp>
      <p:sp>
        <p:nvSpPr>
          <p:cNvPr id="3" name="Content Placeholder 2">
            <a:extLst>
              <a:ext uri="{FF2B5EF4-FFF2-40B4-BE49-F238E27FC236}">
                <a16:creationId xmlns:a16="http://schemas.microsoft.com/office/drawing/2014/main" id="{810106AC-B255-5F83-DA9D-2351EE7BE160}"/>
              </a:ext>
            </a:extLst>
          </p:cNvPr>
          <p:cNvSpPr>
            <a:spLocks noGrp="1"/>
          </p:cNvSpPr>
          <p:nvPr>
            <p:ph idx="1"/>
          </p:nvPr>
        </p:nvSpPr>
        <p:spPr/>
        <p:txBody>
          <a:bodyPr/>
          <a:lstStyle/>
          <a:p>
            <a:r>
              <a:rPr lang="en-US" dirty="0"/>
              <a:t>Introduces non-linearity</a:t>
            </a:r>
          </a:p>
          <a:p>
            <a:r>
              <a:rPr lang="en-US" dirty="0"/>
              <a:t>Converts negative values → 0</a:t>
            </a:r>
          </a:p>
          <a:p>
            <a:endParaRPr lang="en-IN" dirty="0">
              <a:solidFill>
                <a:srgbClr val="FF0000"/>
              </a:solidFill>
            </a:endParaRPr>
          </a:p>
          <a:p>
            <a:r>
              <a:rPr lang="en-IN" dirty="0" err="1">
                <a:solidFill>
                  <a:srgbClr val="FF0000"/>
                </a:solidFill>
              </a:rPr>
              <a:t>ReLU</a:t>
            </a:r>
            <a:r>
              <a:rPr lang="en-IN" dirty="0">
                <a:solidFill>
                  <a:srgbClr val="FF0000"/>
                </a:solidFill>
              </a:rPr>
              <a:t>(x) = max(0, x)</a:t>
            </a:r>
          </a:p>
          <a:p>
            <a:endParaRPr lang="en-IN" dirty="0"/>
          </a:p>
        </p:txBody>
      </p:sp>
    </p:spTree>
    <p:extLst>
      <p:ext uri="{BB962C8B-B14F-4D97-AF65-F5344CB8AC3E}">
        <p14:creationId xmlns:p14="http://schemas.microsoft.com/office/powerpoint/2010/main" val="28235993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D6D24-7250-D342-FACA-4149C0DA5522}"/>
              </a:ext>
            </a:extLst>
          </p:cNvPr>
          <p:cNvSpPr>
            <a:spLocks noGrp="1"/>
          </p:cNvSpPr>
          <p:nvPr>
            <p:ph type="title"/>
          </p:nvPr>
        </p:nvSpPr>
        <p:spPr/>
        <p:txBody>
          <a:bodyPr/>
          <a:lstStyle/>
          <a:p>
            <a:r>
              <a:rPr lang="en-US" b="1" dirty="0"/>
              <a:t>STEP 4: Pooling Layer</a:t>
            </a:r>
            <a:endParaRPr lang="en-IN" dirty="0"/>
          </a:p>
        </p:txBody>
      </p:sp>
      <p:sp>
        <p:nvSpPr>
          <p:cNvPr id="3" name="Content Placeholder 2">
            <a:extLst>
              <a:ext uri="{FF2B5EF4-FFF2-40B4-BE49-F238E27FC236}">
                <a16:creationId xmlns:a16="http://schemas.microsoft.com/office/drawing/2014/main" id="{AFC133DD-3ABD-B914-A2FB-F7CA8DE7E2B9}"/>
              </a:ext>
            </a:extLst>
          </p:cNvPr>
          <p:cNvSpPr>
            <a:spLocks noGrp="1"/>
          </p:cNvSpPr>
          <p:nvPr>
            <p:ph idx="1"/>
          </p:nvPr>
        </p:nvSpPr>
        <p:spPr/>
        <p:txBody>
          <a:bodyPr/>
          <a:lstStyle/>
          <a:p>
            <a:endParaRPr lang="en-US" b="1" dirty="0"/>
          </a:p>
          <a:p>
            <a:r>
              <a:rPr lang="en-US" dirty="0"/>
              <a:t>Reduces spatial size</a:t>
            </a:r>
          </a:p>
          <a:p>
            <a:r>
              <a:rPr lang="en-US" dirty="0"/>
              <a:t>Keeps important features</a:t>
            </a:r>
          </a:p>
          <a:p>
            <a:r>
              <a:rPr lang="en-US" dirty="0"/>
              <a:t>Prevents overfitting</a:t>
            </a:r>
          </a:p>
          <a:p>
            <a:r>
              <a:rPr lang="en-IN" dirty="0"/>
              <a:t>MaxPooling2D(</a:t>
            </a:r>
            <a:r>
              <a:rPr lang="en-IN" dirty="0" err="1"/>
              <a:t>pool_size</a:t>
            </a:r>
            <a:r>
              <a:rPr lang="en-IN" dirty="0"/>
              <a:t>=(2,2))</a:t>
            </a:r>
          </a:p>
        </p:txBody>
      </p:sp>
    </p:spTree>
    <p:extLst>
      <p:ext uri="{BB962C8B-B14F-4D97-AF65-F5344CB8AC3E}">
        <p14:creationId xmlns:p14="http://schemas.microsoft.com/office/powerpoint/2010/main" val="967235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D5B05-75CF-969A-C8DB-17C0FDF58AAC}"/>
              </a:ext>
            </a:extLst>
          </p:cNvPr>
          <p:cNvSpPr>
            <a:spLocks noGrp="1"/>
          </p:cNvSpPr>
          <p:nvPr>
            <p:ph type="title"/>
          </p:nvPr>
        </p:nvSpPr>
        <p:spPr/>
        <p:txBody>
          <a:bodyPr/>
          <a:lstStyle/>
          <a:p>
            <a:r>
              <a:rPr lang="en-US" b="1" dirty="0"/>
              <a:t>STEP 5: Flatten Layer</a:t>
            </a:r>
            <a:br>
              <a:rPr lang="en-US" b="1" dirty="0"/>
            </a:br>
            <a:endParaRPr lang="en-IN" dirty="0"/>
          </a:p>
        </p:txBody>
      </p:sp>
      <p:sp>
        <p:nvSpPr>
          <p:cNvPr id="3" name="Content Placeholder 2">
            <a:extLst>
              <a:ext uri="{FF2B5EF4-FFF2-40B4-BE49-F238E27FC236}">
                <a16:creationId xmlns:a16="http://schemas.microsoft.com/office/drawing/2014/main" id="{324BF16E-B463-FEC9-7F6A-829494878C9C}"/>
              </a:ext>
            </a:extLst>
          </p:cNvPr>
          <p:cNvSpPr>
            <a:spLocks noGrp="1"/>
          </p:cNvSpPr>
          <p:nvPr>
            <p:ph idx="1"/>
          </p:nvPr>
        </p:nvSpPr>
        <p:spPr/>
        <p:txBody>
          <a:bodyPr/>
          <a:lstStyle/>
          <a:p>
            <a:r>
              <a:rPr lang="en-US" dirty="0"/>
              <a:t>Converts 2D feature maps → 1D vector</a:t>
            </a:r>
          </a:p>
          <a:p>
            <a:r>
              <a:rPr lang="en-US" dirty="0"/>
              <a:t>Prepares data for Dense layer</a:t>
            </a:r>
          </a:p>
          <a:p>
            <a:r>
              <a:rPr lang="en-IN" dirty="0"/>
              <a:t>Flatten()</a:t>
            </a:r>
          </a:p>
          <a:p>
            <a:endParaRPr lang="en-IN" dirty="0"/>
          </a:p>
        </p:txBody>
      </p:sp>
    </p:spTree>
    <p:extLst>
      <p:ext uri="{BB962C8B-B14F-4D97-AF65-F5344CB8AC3E}">
        <p14:creationId xmlns:p14="http://schemas.microsoft.com/office/powerpoint/2010/main" val="2273581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68D66-CEF6-3A50-906A-C313E782B996}"/>
              </a:ext>
            </a:extLst>
          </p:cNvPr>
          <p:cNvSpPr>
            <a:spLocks noGrp="1"/>
          </p:cNvSpPr>
          <p:nvPr>
            <p:ph type="title"/>
          </p:nvPr>
        </p:nvSpPr>
        <p:spPr/>
        <p:txBody>
          <a:bodyPr/>
          <a:lstStyle/>
          <a:p>
            <a:r>
              <a:rPr lang="en-US" dirty="0"/>
              <a:t>STEP 6: Fully Connected (Dense Layer)</a:t>
            </a:r>
            <a:br>
              <a:rPr lang="en-IN" dirty="0"/>
            </a:br>
            <a:endParaRPr lang="en-IN" dirty="0"/>
          </a:p>
        </p:txBody>
      </p:sp>
      <p:sp>
        <p:nvSpPr>
          <p:cNvPr id="4" name="Rectangle 1">
            <a:extLst>
              <a:ext uri="{FF2B5EF4-FFF2-40B4-BE49-F238E27FC236}">
                <a16:creationId xmlns:a16="http://schemas.microsoft.com/office/drawing/2014/main" id="{3D20FE80-EC7D-9AB0-A5DF-4B8D5DE64103}"/>
              </a:ext>
            </a:extLst>
          </p:cNvPr>
          <p:cNvSpPr>
            <a:spLocks noGrp="1" noChangeArrowheads="1"/>
          </p:cNvSpPr>
          <p:nvPr>
            <p:ph idx="1"/>
          </p:nvPr>
        </p:nvSpPr>
        <p:spPr bwMode="auto">
          <a:xfrm>
            <a:off x="677334" y="3500811"/>
            <a:ext cx="447109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Performs classification</a:t>
            </a:r>
          </a:p>
          <a:p>
            <a:pPr marL="0" lvl="0" indent="0" defTabSz="914400" eaLnBrk="0" fontAlgn="base" hangingPunct="0">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Learns complex combinations of features</a:t>
            </a:r>
          </a:p>
          <a:p>
            <a:pPr marL="0" lvl="0" indent="0" defTabSz="914400" eaLnBrk="0" fontAlgn="base" hangingPunct="0">
              <a:spcBef>
                <a:spcPct val="0"/>
              </a:spcBef>
              <a:spcAft>
                <a:spcPct val="0"/>
              </a:spcAft>
              <a:buClrTx/>
              <a:buSzTx/>
              <a:buFontTx/>
              <a:buChar char="•"/>
            </a:pPr>
            <a:r>
              <a:rPr lang="en-US" altLang="en-US" dirty="0">
                <a:solidFill>
                  <a:schemeClr val="tx1"/>
                </a:solidFill>
                <a:latin typeface="Arial" panose="020B0604020202020204" pitchFamily="34" charset="0"/>
              </a:rPr>
              <a:t>Dense(128, activation='</a:t>
            </a:r>
            <a:r>
              <a:rPr lang="en-US" altLang="en-US" dirty="0" err="1">
                <a:solidFill>
                  <a:schemeClr val="tx1"/>
                </a:solidFill>
                <a:latin typeface="Arial" panose="020B0604020202020204" pitchFamily="34" charset="0"/>
              </a:rPr>
              <a:t>relu</a:t>
            </a:r>
            <a:r>
              <a:rPr lang="en-US" altLang="en-US" dirty="0">
                <a:solidFill>
                  <a:schemeClr val="tx1"/>
                </a:solidFill>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5890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FC583-F8AB-01A0-3B5E-A6B66033501D}"/>
              </a:ext>
            </a:extLst>
          </p:cNvPr>
          <p:cNvSpPr>
            <a:spLocks noGrp="1"/>
          </p:cNvSpPr>
          <p:nvPr>
            <p:ph type="title"/>
          </p:nvPr>
        </p:nvSpPr>
        <p:spPr/>
        <p:txBody>
          <a:bodyPr/>
          <a:lstStyle/>
          <a:p>
            <a:r>
              <a:rPr lang="en-IN" dirty="0"/>
              <a:t>Output Layer</a:t>
            </a:r>
          </a:p>
        </p:txBody>
      </p:sp>
      <p:graphicFrame>
        <p:nvGraphicFramePr>
          <p:cNvPr id="6" name="Content Placeholder 5">
            <a:extLst>
              <a:ext uri="{FF2B5EF4-FFF2-40B4-BE49-F238E27FC236}">
                <a16:creationId xmlns:a16="http://schemas.microsoft.com/office/drawing/2014/main" id="{08A0B46C-E428-05B9-E0E9-00450968F2BD}"/>
              </a:ext>
            </a:extLst>
          </p:cNvPr>
          <p:cNvGraphicFramePr>
            <a:graphicFrameLocks noGrp="1"/>
          </p:cNvGraphicFramePr>
          <p:nvPr>
            <p:ph idx="1"/>
          </p:nvPr>
        </p:nvGraphicFramePr>
        <p:xfrm>
          <a:off x="677863" y="3552666"/>
          <a:ext cx="8596311" cy="1097280"/>
        </p:xfrm>
        <a:graphic>
          <a:graphicData uri="http://schemas.openxmlformats.org/drawingml/2006/table">
            <a:tbl>
              <a:tblPr/>
              <a:tblGrid>
                <a:gridCol w="2865437">
                  <a:extLst>
                    <a:ext uri="{9D8B030D-6E8A-4147-A177-3AD203B41FA5}">
                      <a16:colId xmlns:a16="http://schemas.microsoft.com/office/drawing/2014/main" val="1451359963"/>
                    </a:ext>
                  </a:extLst>
                </a:gridCol>
                <a:gridCol w="2865437">
                  <a:extLst>
                    <a:ext uri="{9D8B030D-6E8A-4147-A177-3AD203B41FA5}">
                      <a16:colId xmlns:a16="http://schemas.microsoft.com/office/drawing/2014/main" val="3401880252"/>
                    </a:ext>
                  </a:extLst>
                </a:gridCol>
                <a:gridCol w="2865437">
                  <a:extLst>
                    <a:ext uri="{9D8B030D-6E8A-4147-A177-3AD203B41FA5}">
                      <a16:colId xmlns:a16="http://schemas.microsoft.com/office/drawing/2014/main" val="3538038851"/>
                    </a:ext>
                  </a:extLst>
                </a:gridCol>
              </a:tblGrid>
              <a:tr h="0">
                <a:tc>
                  <a:txBody>
                    <a:bodyPr/>
                    <a:lstStyle/>
                    <a:p>
                      <a:pPr>
                        <a:buNone/>
                      </a:pPr>
                      <a:r>
                        <a:rPr lang="en-IN"/>
                        <a:t>Problem</a:t>
                      </a:r>
                    </a:p>
                  </a:txBody>
                  <a:tcPr anchor="ctr">
                    <a:lnL>
                      <a:noFill/>
                    </a:lnL>
                    <a:lnR>
                      <a:noFill/>
                    </a:lnR>
                    <a:lnT>
                      <a:noFill/>
                    </a:lnT>
                    <a:lnB>
                      <a:noFill/>
                    </a:lnB>
                    <a:noFill/>
                  </a:tcPr>
                </a:tc>
                <a:tc>
                  <a:txBody>
                    <a:bodyPr/>
                    <a:lstStyle/>
                    <a:p>
                      <a:pPr>
                        <a:buNone/>
                      </a:pPr>
                      <a:r>
                        <a:rPr lang="en-IN"/>
                        <a:t>Neurons</a:t>
                      </a:r>
                    </a:p>
                  </a:txBody>
                  <a:tcPr anchor="ctr">
                    <a:lnL>
                      <a:noFill/>
                    </a:lnL>
                    <a:lnR>
                      <a:noFill/>
                    </a:lnR>
                    <a:lnT>
                      <a:noFill/>
                    </a:lnT>
                    <a:lnB>
                      <a:noFill/>
                    </a:lnB>
                    <a:noFill/>
                  </a:tcPr>
                </a:tc>
                <a:tc>
                  <a:txBody>
                    <a:bodyPr/>
                    <a:lstStyle/>
                    <a:p>
                      <a:pPr>
                        <a:buNone/>
                      </a:pPr>
                      <a:r>
                        <a:rPr lang="en-IN"/>
                        <a:t>Activation</a:t>
                      </a:r>
                    </a:p>
                  </a:txBody>
                  <a:tcPr anchor="ctr">
                    <a:lnL>
                      <a:noFill/>
                    </a:lnL>
                    <a:lnR>
                      <a:noFill/>
                    </a:lnR>
                    <a:lnT>
                      <a:noFill/>
                    </a:lnT>
                    <a:lnB>
                      <a:noFill/>
                    </a:lnB>
                    <a:noFill/>
                  </a:tcPr>
                </a:tc>
                <a:extLst>
                  <a:ext uri="{0D108BD9-81ED-4DB2-BD59-A6C34878D82A}">
                    <a16:rowId xmlns:a16="http://schemas.microsoft.com/office/drawing/2014/main" val="647240475"/>
                  </a:ext>
                </a:extLst>
              </a:tr>
              <a:tr h="0">
                <a:tc>
                  <a:txBody>
                    <a:bodyPr/>
                    <a:lstStyle/>
                    <a:p>
                      <a:pPr>
                        <a:buNone/>
                      </a:pPr>
                      <a:r>
                        <a:rPr lang="en-IN"/>
                        <a:t>Binary classification</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sigmoid</a:t>
                      </a:r>
                    </a:p>
                  </a:txBody>
                  <a:tcPr anchor="ctr">
                    <a:lnL>
                      <a:noFill/>
                    </a:lnL>
                    <a:lnR>
                      <a:noFill/>
                    </a:lnR>
                    <a:lnT>
                      <a:noFill/>
                    </a:lnT>
                    <a:lnB>
                      <a:noFill/>
                    </a:lnB>
                    <a:noFill/>
                  </a:tcPr>
                </a:tc>
                <a:extLst>
                  <a:ext uri="{0D108BD9-81ED-4DB2-BD59-A6C34878D82A}">
                    <a16:rowId xmlns:a16="http://schemas.microsoft.com/office/drawing/2014/main" val="3154673846"/>
                  </a:ext>
                </a:extLst>
              </a:tr>
              <a:tr h="0">
                <a:tc>
                  <a:txBody>
                    <a:bodyPr/>
                    <a:lstStyle/>
                    <a:p>
                      <a:pPr>
                        <a:buNone/>
                      </a:pPr>
                      <a:r>
                        <a:rPr lang="en-IN"/>
                        <a:t>Multi-class</a:t>
                      </a:r>
                    </a:p>
                  </a:txBody>
                  <a:tcPr anchor="ctr">
                    <a:lnL>
                      <a:noFill/>
                    </a:lnL>
                    <a:lnR>
                      <a:noFill/>
                    </a:lnR>
                    <a:lnT>
                      <a:noFill/>
                    </a:lnT>
                    <a:lnB>
                      <a:noFill/>
                    </a:lnB>
                    <a:noFill/>
                  </a:tcPr>
                </a:tc>
                <a:tc>
                  <a:txBody>
                    <a:bodyPr/>
                    <a:lstStyle/>
                    <a:p>
                      <a:pPr>
                        <a:buNone/>
                      </a:pPr>
                      <a:r>
                        <a:rPr lang="en-IN"/>
                        <a:t>n</a:t>
                      </a:r>
                    </a:p>
                  </a:txBody>
                  <a:tcPr anchor="ctr">
                    <a:lnL>
                      <a:noFill/>
                    </a:lnL>
                    <a:lnR>
                      <a:noFill/>
                    </a:lnR>
                    <a:lnT>
                      <a:noFill/>
                    </a:lnT>
                    <a:lnB>
                      <a:noFill/>
                    </a:lnB>
                    <a:noFill/>
                  </a:tcPr>
                </a:tc>
                <a:tc>
                  <a:txBody>
                    <a:bodyPr/>
                    <a:lstStyle/>
                    <a:p>
                      <a:pPr>
                        <a:buNone/>
                      </a:pPr>
                      <a:r>
                        <a:rPr lang="en-IN" dirty="0" err="1"/>
                        <a:t>softmax</a:t>
                      </a:r>
                      <a:endParaRPr lang="en-IN" dirty="0"/>
                    </a:p>
                  </a:txBody>
                  <a:tcPr anchor="ctr">
                    <a:lnL>
                      <a:noFill/>
                    </a:lnL>
                    <a:lnR>
                      <a:noFill/>
                    </a:lnR>
                    <a:lnT>
                      <a:noFill/>
                    </a:lnT>
                    <a:lnB>
                      <a:noFill/>
                    </a:lnB>
                    <a:noFill/>
                  </a:tcPr>
                </a:tc>
                <a:extLst>
                  <a:ext uri="{0D108BD9-81ED-4DB2-BD59-A6C34878D82A}">
                    <a16:rowId xmlns:a16="http://schemas.microsoft.com/office/drawing/2014/main" val="1208255772"/>
                  </a:ext>
                </a:extLst>
              </a:tr>
            </a:tbl>
          </a:graphicData>
        </a:graphic>
      </p:graphicFrame>
      <p:sp>
        <p:nvSpPr>
          <p:cNvPr id="9" name="TextBox 8">
            <a:extLst>
              <a:ext uri="{FF2B5EF4-FFF2-40B4-BE49-F238E27FC236}">
                <a16:creationId xmlns:a16="http://schemas.microsoft.com/office/drawing/2014/main" id="{CBC822F7-106E-4165-BDD0-CECF69C25748}"/>
              </a:ext>
            </a:extLst>
          </p:cNvPr>
          <p:cNvSpPr txBox="1"/>
          <p:nvPr/>
        </p:nvSpPr>
        <p:spPr>
          <a:xfrm>
            <a:off x="1763485" y="5329726"/>
            <a:ext cx="6102220" cy="369332"/>
          </a:xfrm>
          <a:prstGeom prst="rect">
            <a:avLst/>
          </a:prstGeom>
          <a:noFill/>
        </p:spPr>
        <p:txBody>
          <a:bodyPr wrap="square">
            <a:spAutoFit/>
          </a:bodyPr>
          <a:lstStyle/>
          <a:p>
            <a:r>
              <a:rPr lang="en-IN" dirty="0"/>
              <a:t>Dense(10, activation='</a:t>
            </a:r>
            <a:r>
              <a:rPr lang="en-IN" dirty="0" err="1"/>
              <a:t>softmax</a:t>
            </a:r>
            <a:r>
              <a:rPr lang="en-IN" dirty="0"/>
              <a:t>')</a:t>
            </a:r>
          </a:p>
        </p:txBody>
      </p:sp>
    </p:spTree>
    <p:extLst>
      <p:ext uri="{BB962C8B-B14F-4D97-AF65-F5344CB8AC3E}">
        <p14:creationId xmlns:p14="http://schemas.microsoft.com/office/powerpoint/2010/main" val="1274322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03D02-66F7-424C-0812-45F0D727FC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6F53979-9079-FB94-11DA-60B2AF26CB63}"/>
              </a:ext>
            </a:extLst>
          </p:cNvPr>
          <p:cNvSpPr>
            <a:spLocks noGrp="1"/>
          </p:cNvSpPr>
          <p:nvPr>
            <p:ph idx="1"/>
          </p:nvPr>
        </p:nvSpPr>
        <p:spPr/>
        <p:txBody>
          <a:bodyPr/>
          <a:lstStyle/>
          <a:p>
            <a:r>
              <a:rPr lang="en-IN" b="1" dirty="0"/>
              <a:t>COMPLETE CNN EXAMPLE (MNIST – Handwritten Digits)</a:t>
            </a:r>
          </a:p>
          <a:p>
            <a:r>
              <a:rPr lang="en-IN" b="1" dirty="0"/>
              <a:t> Problem</a:t>
            </a:r>
          </a:p>
          <a:p>
            <a:r>
              <a:rPr lang="en-IN" dirty="0"/>
              <a:t>Classify digits </a:t>
            </a:r>
            <a:r>
              <a:rPr lang="en-IN" b="1" dirty="0"/>
              <a:t>0–9</a:t>
            </a:r>
            <a:endParaRPr lang="en-IN" dirty="0"/>
          </a:p>
          <a:p>
            <a:endParaRPr lang="en-IN" dirty="0"/>
          </a:p>
        </p:txBody>
      </p:sp>
    </p:spTree>
    <p:extLst>
      <p:ext uri="{BB962C8B-B14F-4D97-AF65-F5344CB8AC3E}">
        <p14:creationId xmlns:p14="http://schemas.microsoft.com/office/powerpoint/2010/main" val="3121327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86C1570-D338-A53F-4943-4BB6BF25FACA}"/>
              </a:ext>
            </a:extLst>
          </p:cNvPr>
          <p:cNvSpPr>
            <a:spLocks noGrp="1"/>
          </p:cNvSpPr>
          <p:nvPr>
            <p:ph type="title"/>
          </p:nvPr>
        </p:nvSpPr>
        <p:spPr>
          <a:xfrm>
            <a:off x="0" y="195309"/>
            <a:ext cx="10191565" cy="1420427"/>
          </a:xfrm>
        </p:spPr>
        <p:txBody>
          <a:bodyPr>
            <a:noAutofit/>
          </a:bodyPr>
          <a:lstStyle/>
          <a:p>
            <a:r>
              <a:rPr lang="en-US" sz="4400" dirty="0">
                <a:solidFill>
                  <a:schemeClr val="tx2"/>
                </a:solidFill>
                <a:latin typeface="Calisto MT" panose="02040603050505030304" pitchFamily="18" charset="0"/>
              </a:rPr>
              <a:t>Deep learning?</a:t>
            </a:r>
            <a:endParaRPr lang="en-IN" sz="4400" dirty="0">
              <a:solidFill>
                <a:schemeClr val="tx2"/>
              </a:solidFill>
              <a:latin typeface="Calisto MT" panose="02040603050505030304" pitchFamily="18" charset="0"/>
            </a:endParaRPr>
          </a:p>
        </p:txBody>
      </p:sp>
      <p:sp>
        <p:nvSpPr>
          <p:cNvPr id="5" name="Picture Placeholder 4"/>
          <p:cNvSpPr>
            <a:spLocks noGrp="1"/>
          </p:cNvSpPr>
          <p:nvPr>
            <p:ph type="pic" idx="1"/>
          </p:nvPr>
        </p:nvSpPr>
        <p:spPr/>
      </p:sp>
      <p:sp>
        <p:nvSpPr>
          <p:cNvPr id="10" name="Text Placeholder 9">
            <a:extLst>
              <a:ext uri="{FF2B5EF4-FFF2-40B4-BE49-F238E27FC236}">
                <a16:creationId xmlns:a16="http://schemas.microsoft.com/office/drawing/2014/main" id="{632F297E-3848-7C12-1E1A-6C3C20B9B7E7}"/>
              </a:ext>
            </a:extLst>
          </p:cNvPr>
          <p:cNvSpPr>
            <a:spLocks noGrp="1"/>
          </p:cNvSpPr>
          <p:nvPr>
            <p:ph type="body" sz="half" idx="2"/>
          </p:nvPr>
        </p:nvSpPr>
        <p:spPr>
          <a:xfrm>
            <a:off x="142044" y="2157274"/>
            <a:ext cx="7261934" cy="3184864"/>
          </a:xfrm>
        </p:spPr>
        <p:txBody>
          <a:bodyPr>
            <a:normAutofit fontScale="92500"/>
          </a:bodyPr>
          <a:lstStyle/>
          <a:p>
            <a:pPr fontAlgn="base"/>
            <a:br>
              <a:rPr lang="en-US" sz="3600" dirty="0"/>
            </a:br>
            <a:r>
              <a:rPr lang="en-US" sz="3600" dirty="0"/>
              <a:t> Deep neural networks consist of multiple layers of interconnected nodes, each building upon the previous layer to refine and optimize the prediction or categorization.</a:t>
            </a:r>
            <a:endParaRPr lang="en-IN" dirty="0"/>
          </a:p>
        </p:txBody>
      </p:sp>
    </p:spTree>
    <p:extLst>
      <p:ext uri="{BB962C8B-B14F-4D97-AF65-F5344CB8AC3E}">
        <p14:creationId xmlns:p14="http://schemas.microsoft.com/office/powerpoint/2010/main" val="34278721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BB374-0606-76BB-9632-02D9D44C4EDE}"/>
              </a:ext>
            </a:extLst>
          </p:cNvPr>
          <p:cNvSpPr>
            <a:spLocks noGrp="1"/>
          </p:cNvSpPr>
          <p:nvPr>
            <p:ph type="title"/>
          </p:nvPr>
        </p:nvSpPr>
        <p:spPr/>
        <p:txBody>
          <a:bodyPr/>
          <a:lstStyle/>
          <a:p>
            <a:endParaRPr lang="en-IN"/>
          </a:p>
        </p:txBody>
      </p:sp>
      <p:sp>
        <p:nvSpPr>
          <p:cNvPr id="3" name="Picture Placeholder 2">
            <a:extLst>
              <a:ext uri="{FF2B5EF4-FFF2-40B4-BE49-F238E27FC236}">
                <a16:creationId xmlns:a16="http://schemas.microsoft.com/office/drawing/2014/main" id="{A3D0C8AF-6929-BEA0-E5E0-A609FB0F11FF}"/>
              </a:ext>
            </a:extLst>
          </p:cNvPr>
          <p:cNvSpPr>
            <a:spLocks noGrp="1"/>
          </p:cNvSpPr>
          <p:nvPr>
            <p:ph type="pic" idx="1"/>
          </p:nvPr>
        </p:nvSpPr>
        <p:spPr/>
      </p:sp>
      <p:sp>
        <p:nvSpPr>
          <p:cNvPr id="4" name="Text Placeholder 3">
            <a:extLst>
              <a:ext uri="{FF2B5EF4-FFF2-40B4-BE49-F238E27FC236}">
                <a16:creationId xmlns:a16="http://schemas.microsoft.com/office/drawing/2014/main" id="{949CB379-0892-BA32-2E46-EE2AD0BCC12C}"/>
              </a:ext>
            </a:extLst>
          </p:cNvPr>
          <p:cNvSpPr>
            <a:spLocks noGrp="1"/>
          </p:cNvSpPr>
          <p:nvPr>
            <p:ph type="body" sz="half" idx="2"/>
          </p:nvPr>
        </p:nvSpPr>
        <p:spPr/>
        <p:txBody>
          <a:bodyPr/>
          <a:lstStyle/>
          <a:p>
            <a:endParaRPr lang="en-IN"/>
          </a:p>
        </p:txBody>
      </p:sp>
    </p:spTree>
    <p:extLst>
      <p:ext uri="{BB962C8B-B14F-4D97-AF65-F5344CB8AC3E}">
        <p14:creationId xmlns:p14="http://schemas.microsoft.com/office/powerpoint/2010/main" val="36480857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1406</TotalTime>
  <Words>1601</Words>
  <Application>Microsoft Office PowerPoint</Application>
  <PresentationFormat>Widescreen</PresentationFormat>
  <Paragraphs>234</Paragraphs>
  <Slides>41</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Algerian</vt:lpstr>
      <vt:lpstr>Arial</vt:lpstr>
      <vt:lpstr>Book Antiqua</vt:lpstr>
      <vt:lpstr>Calibri</vt:lpstr>
      <vt:lpstr>Calisto MT</vt:lpstr>
      <vt:lpstr>Cambria Math</vt:lpstr>
      <vt:lpstr>Mangal</vt:lpstr>
      <vt:lpstr>Nunito</vt:lpstr>
      <vt:lpstr>Trebuchet MS</vt:lpstr>
      <vt:lpstr>Wingdings 3</vt:lpstr>
      <vt:lpstr>Facet</vt:lpstr>
      <vt:lpstr>Machine Learning and Deep Learning </vt:lpstr>
      <vt:lpstr>MACHINE LEARNING</vt:lpstr>
      <vt:lpstr>PowerPoint Presentation</vt:lpstr>
      <vt:lpstr>PowerPoint Presentation</vt:lpstr>
      <vt:lpstr>PowerPoint Presentation</vt:lpstr>
      <vt:lpstr>Neural Network</vt:lpstr>
      <vt:lpstr>PowerPoint Presentation</vt:lpstr>
      <vt:lpstr>Importance</vt:lpstr>
      <vt:lpstr>Layers</vt:lpstr>
      <vt:lpstr>Spam Mail classification with Input Vector- [1,0,1]-Weights: Neuron H1: [0.5,−0.2,0.3] Neuron H2: [0.4,0.1,−0.5] </vt:lpstr>
      <vt:lpstr>PowerPoint Presentation</vt:lpstr>
      <vt:lpstr>PowerPoint Presentation</vt:lpstr>
      <vt:lpstr>Types of Neural Networks </vt:lpstr>
      <vt:lpstr>Create and Load Data Set</vt:lpstr>
      <vt:lpstr>Import Libraries</vt:lpstr>
      <vt:lpstr>Load dataset</vt:lpstr>
      <vt:lpstr>Step 3: Split Features &amp; Target</vt:lpstr>
      <vt:lpstr>4.Train and Test Split</vt:lpstr>
      <vt:lpstr>Step 5: Feature Scaling (Important for NN)</vt:lpstr>
      <vt:lpstr>Step 6: Build Neural Network (ANN)</vt:lpstr>
      <vt:lpstr>Network Structure</vt:lpstr>
      <vt:lpstr>Step 7: Compile Model</vt:lpstr>
      <vt:lpstr>Step 8: Train Neural Network</vt:lpstr>
      <vt:lpstr>Step 9: Evaluate Model </vt:lpstr>
      <vt:lpstr>Step 10: Predict New Student </vt:lpstr>
      <vt:lpstr>PowerPoint Presentation</vt:lpstr>
      <vt:lpstr>PowerPoint Presentation</vt:lpstr>
      <vt:lpstr>PowerPoint Presentation</vt:lpstr>
      <vt:lpstr>PowerPoint Presentation</vt:lpstr>
      <vt:lpstr>Deep Neural Network</vt:lpstr>
      <vt:lpstr>Architechture</vt:lpstr>
      <vt:lpstr>Step1 :Input Layer</vt:lpstr>
      <vt:lpstr>Convoltuion Layer</vt:lpstr>
      <vt:lpstr>STEP 3: Activation Function (ReLU) </vt:lpstr>
      <vt:lpstr>STEP 4: Pooling Layer</vt:lpstr>
      <vt:lpstr>STEP 5: Flatten Layer </vt:lpstr>
      <vt:lpstr>STEP 6: Fully Connected (Dense Layer) </vt:lpstr>
      <vt:lpstr>Output Layer</vt:lpstr>
      <vt:lpstr>PowerPoint Presentation</vt:lpstr>
      <vt:lpstr>Deep learning?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Anusha Anu</dc:creator>
  <cp:lastModifiedBy>krishna bhanu</cp:lastModifiedBy>
  <cp:revision>14</cp:revision>
  <dcterms:created xsi:type="dcterms:W3CDTF">2022-09-17T14:28:29Z</dcterms:created>
  <dcterms:modified xsi:type="dcterms:W3CDTF">2025-12-23T09:51:04Z</dcterms:modified>
</cp:coreProperties>
</file>