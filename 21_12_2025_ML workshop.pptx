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85" r:id="rId2"/>
    <p:sldId id="286" r:id="rId3"/>
    <p:sldId id="258" r:id="rId4"/>
    <p:sldId id="264" r:id="rId5"/>
    <p:sldId id="262" r:id="rId6"/>
    <p:sldId id="266" r:id="rId7"/>
    <p:sldId id="279" r:id="rId8"/>
    <p:sldId id="270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311" r:id="rId17"/>
    <p:sldId id="288" r:id="rId18"/>
    <p:sldId id="289" r:id="rId19"/>
    <p:sldId id="287" r:id="rId20"/>
    <p:sldId id="292" r:id="rId21"/>
    <p:sldId id="293" r:id="rId22"/>
    <p:sldId id="296" r:id="rId23"/>
    <p:sldId id="294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282" r:id="rId39"/>
    <p:sldId id="28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4060"/>
    <a:srgbClr val="FF33CC"/>
    <a:srgbClr val="66FFCC"/>
    <a:srgbClr val="33CCFF"/>
    <a:srgbClr val="FFCCCC"/>
    <a:srgbClr val="287688"/>
    <a:srgbClr val="24A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25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61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61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961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3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2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56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3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174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42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835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627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91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2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2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refreshscience.com/basics-of-robotics-ppt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1517" y="1595536"/>
            <a:ext cx="7622485" cy="121163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Machine Learning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551" y="3429001"/>
            <a:ext cx="7734452" cy="1718732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/>
              <a:t>Dr.K</a:t>
            </a:r>
            <a:r>
              <a:rPr lang="en-US" sz="2400" dirty="0"/>
              <a:t> </a:t>
            </a:r>
            <a:r>
              <a:rPr lang="en-US" sz="2400" dirty="0" err="1"/>
              <a:t>DeviPriya</a:t>
            </a:r>
            <a:endParaRPr lang="en-US" sz="2400" dirty="0"/>
          </a:p>
          <a:p>
            <a:pPr algn="ctr"/>
            <a:r>
              <a:rPr lang="en-US" sz="2400" dirty="0"/>
              <a:t>Professor</a:t>
            </a:r>
          </a:p>
          <a:p>
            <a:pPr algn="ctr"/>
            <a:r>
              <a:rPr lang="en-US" sz="2400" dirty="0"/>
              <a:t>Computer Science and engineering</a:t>
            </a:r>
          </a:p>
          <a:p>
            <a:pPr algn="ctr"/>
            <a:r>
              <a:rPr lang="en-US" sz="2400" dirty="0" err="1"/>
              <a:t>Lakireddy</a:t>
            </a:r>
            <a:r>
              <a:rPr lang="en-US" sz="2400" dirty="0"/>
              <a:t> Bali Reddy College of Engineering</a:t>
            </a:r>
          </a:p>
          <a:p>
            <a:pPr algn="ctr"/>
            <a:r>
              <a:rPr lang="en-US" sz="2400" dirty="0" err="1"/>
              <a:t>Mylavaram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EBDC-E268-F59E-7C3A-EED34FB22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</a:rPr>
              <a:t>MACHINE LEARNING</a:t>
            </a:r>
            <a:endParaRPr lang="en-IN" sz="4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80B33-500A-6E3B-3010-C7C58A8FA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2520F-CC72-FCD7-036A-C7695EBC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618"/>
            <a:ext cx="1219200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99FFCA-B3E1-0614-E6C6-83180C433334}"/>
              </a:ext>
            </a:extLst>
          </p:cNvPr>
          <p:cNvSpPr txBox="1"/>
          <p:nvPr/>
        </p:nvSpPr>
        <p:spPr>
          <a:xfrm>
            <a:off x="5433134" y="3029050"/>
            <a:ext cx="6249879" cy="28007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800" dirty="0">
                <a:solidFill>
                  <a:srgbClr val="FF33CC"/>
                </a:solidFill>
                <a:latin typeface="Algerian" panose="04020705040A02060702" pitchFamily="82" charset="0"/>
              </a:rPr>
              <a:t>MACHINE LEARNING</a:t>
            </a:r>
            <a:endParaRPr lang="en-IN" sz="8800" dirty="0">
              <a:solidFill>
                <a:srgbClr val="FF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1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FFB6-AF6F-36E5-7C22-3C67154C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4ACDC"/>
                </a:solidFill>
              </a:rPr>
              <a:t>What are the things we are going to see</a:t>
            </a:r>
            <a:endParaRPr lang="en-IN" sz="4000" dirty="0">
              <a:solidFill>
                <a:srgbClr val="24ACD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8C6E-470F-78AD-C180-AF9C37FC95B3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Calisto MT" panose="02040603050505030304" pitchFamily="18" charset="0"/>
              </a:rPr>
              <a:t>1)</a:t>
            </a:r>
            <a:r>
              <a:rPr lang="en-US" sz="4000" dirty="0">
                <a:solidFill>
                  <a:srgbClr val="00B050"/>
                </a:solidFill>
                <a:latin typeface="Calisto MT" panose="02040603050505030304" pitchFamily="18" charset="0"/>
              </a:rPr>
              <a:t>What is Machine Learning</a:t>
            </a:r>
            <a:r>
              <a:rPr lang="en-US" sz="4000" dirty="0">
                <a:solidFill>
                  <a:srgbClr val="00B05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2)</a:t>
            </a:r>
            <a:r>
              <a:rPr lang="en-IN" sz="4000" dirty="0">
                <a:solidFill>
                  <a:schemeClr val="accent1"/>
                </a:solidFill>
                <a:latin typeface="Calisto MT" panose="02040603050505030304" pitchFamily="18" charset="0"/>
              </a:rPr>
              <a:t>Why we need Machine Learning?</a:t>
            </a:r>
          </a:p>
          <a:p>
            <a:pPr marL="0" indent="0">
              <a:buNone/>
            </a:pPr>
            <a:r>
              <a:rPr lang="en-IN" sz="4000" dirty="0">
                <a:solidFill>
                  <a:srgbClr val="C00000"/>
                </a:solidFill>
                <a:latin typeface="Calisto MT" panose="02040603050505030304" pitchFamily="18" charset="0"/>
              </a:rPr>
              <a:t>3)</a:t>
            </a:r>
            <a:r>
              <a:rPr lang="en-IN" sz="4000" dirty="0">
                <a:solidFill>
                  <a:srgbClr val="287688"/>
                </a:solidFill>
                <a:latin typeface="Calisto MT" panose="02040603050505030304" pitchFamily="18" charset="0"/>
              </a:rPr>
              <a:t>Applications of Machine Learning in Real World?</a:t>
            </a:r>
          </a:p>
          <a:p>
            <a:pPr marL="0" indent="0">
              <a:buNone/>
            </a:pPr>
            <a:r>
              <a:rPr lang="en-IN" sz="4000" dirty="0">
                <a:solidFill>
                  <a:srgbClr val="287688"/>
                </a:solidFill>
                <a:latin typeface="Calisto MT" panose="02040603050505030304" pitchFamily="18" charset="0"/>
              </a:rPr>
              <a:t>4)</a:t>
            </a:r>
            <a:r>
              <a:rPr lang="en-IN" sz="4000" dirty="0" err="1">
                <a:solidFill>
                  <a:srgbClr val="287688"/>
                </a:solidFill>
                <a:latin typeface="Calisto MT" panose="02040603050505030304" pitchFamily="18" charset="0"/>
              </a:rPr>
              <a:t>Devloping</a:t>
            </a:r>
            <a:r>
              <a:rPr lang="en-IN" sz="4000" dirty="0">
                <a:solidFill>
                  <a:srgbClr val="287688"/>
                </a:solidFill>
                <a:latin typeface="Calisto MT" panose="02040603050505030304" pitchFamily="18" charset="0"/>
              </a:rPr>
              <a:t> Application using Machine Learning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82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6C1570-D338-A53F-4943-4BB6BF2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309"/>
            <a:ext cx="10191565" cy="142042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Calisto MT" panose="02040603050505030304" pitchFamily="18" charset="0"/>
              </a:rPr>
              <a:t>What is machine learning?</a:t>
            </a:r>
            <a:endParaRPr lang="en-IN" sz="44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D68EE0B-B0C3-4508-393D-27515E0291C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152" r="26152"/>
          <a:stretch>
            <a:fillRect/>
          </a:stretch>
        </p:blipFill>
        <p:spPr>
          <a:xfrm>
            <a:off x="6720395" y="1882066"/>
            <a:ext cx="4714044" cy="412811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F297E-3848-7C12-1E1A-6C3C20B9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044" y="2157274"/>
            <a:ext cx="7261934" cy="3184864"/>
          </a:xfrm>
        </p:spPr>
        <p:txBody>
          <a:bodyPr>
            <a:normAutofit/>
          </a:bodyPr>
          <a:lstStyle/>
          <a:p>
            <a:pPr fontAlgn="base"/>
            <a:r>
              <a:rPr lang="en-US" sz="3600" b="0" i="0" dirty="0">
                <a:solidFill>
                  <a:schemeClr val="accent5"/>
                </a:solidFill>
                <a:effectLst/>
                <a:latin typeface="Roboto" panose="02000000000000000000" pitchFamily="2" charset="0"/>
              </a:rPr>
              <a:t>Machine learning is a "field of study that gives computers the ability to learn without being explicitly programmed."</a:t>
            </a:r>
          </a:p>
          <a:p>
            <a:pPr algn="l" fontAlgn="base"/>
            <a:r>
              <a:rPr lang="en-IN" dirty="0"/>
              <a:t>                                                    </a:t>
            </a:r>
            <a:r>
              <a:rPr lang="en-IN" sz="2400" dirty="0">
                <a:latin typeface="Arial Black" panose="020B0A04020102020204" pitchFamily="34" charset="0"/>
              </a:rPr>
              <a:t>--</a:t>
            </a:r>
            <a:r>
              <a:rPr lang="en-IN" sz="2400" dirty="0">
                <a:latin typeface="Arial Black" panose="020B0A04020102020204" pitchFamily="34" charset="0"/>
                <a:sym typeface="Wingdings" panose="05000000000000000000" pitchFamily="2" charset="2"/>
              </a:rPr>
              <a:t>Arthur Samuel</a:t>
            </a:r>
            <a:endParaRPr lang="en-IN" sz="2400" dirty="0">
              <a:latin typeface="Arial Black" panose="020B0A04020102020204" pitchFamily="34" charset="0"/>
            </a:endParaRPr>
          </a:p>
          <a:p>
            <a:pPr algn="l" fontAlgn="base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87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2AE99-B29E-711A-F31A-999DEEF53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584" y="0"/>
            <a:ext cx="723176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597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DB5A6-59B3-32EE-DE22-C37282B7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22" y="523783"/>
            <a:ext cx="8389397" cy="551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10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A4EE-0920-13D6-42CA-1591DAC2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632"/>
            <a:ext cx="10131425" cy="914400"/>
          </a:xfrm>
          <a:noFill/>
          <a:ln>
            <a:solidFill>
              <a:schemeClr val="accent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r>
              <a:rPr lang="en-US" sz="3600" dirty="0">
                <a:latin typeface="Calisto MT" panose="02040603050505030304" pitchFamily="18" charset="0"/>
              </a:rPr>
              <a:t>Why we </a:t>
            </a:r>
            <a:r>
              <a:rPr lang="en-US" dirty="0">
                <a:latin typeface="Calisto MT" panose="02040603050505030304" pitchFamily="18" charset="0"/>
              </a:rPr>
              <a:t>n</a:t>
            </a:r>
            <a:r>
              <a:rPr lang="en-US" sz="3600" dirty="0">
                <a:latin typeface="Calisto MT" panose="02040603050505030304" pitchFamily="18" charset="0"/>
              </a:rPr>
              <a:t>eed MACHINE LEARNING?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138EF-A08E-3802-7357-955C4B016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53592"/>
            <a:ext cx="10131425" cy="426424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0" i="0" dirty="0">
                <a:solidFill>
                  <a:srgbClr val="FFC000"/>
                </a:solidFill>
                <a:effectLst/>
                <a:latin typeface="Calisto MT" panose="02040603050505030304" pitchFamily="18" charset="0"/>
              </a:rPr>
              <a:t>Machine learning is important because it gives enterprises a view of trends in customer behavior and business operational patterns, as well as supports the development of new products.</a:t>
            </a:r>
          </a:p>
          <a:p>
            <a:r>
              <a:rPr lang="en-US" sz="3200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2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Many of today's leading companies, such as Facebook, Google and Uber, make machine learning a central part of their operations. </a:t>
            </a:r>
          </a:p>
          <a:p>
            <a:r>
              <a:rPr lang="en-US" sz="32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Machine learning has become a significant competitive differentiator for many companies.</a:t>
            </a:r>
            <a:endParaRPr lang="en-IN" sz="3200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49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51FB-6FD6-3D9C-0D42-B153BDB0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8209624" cy="926237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  <a:latin typeface="Algerian" panose="04020705040A02060702" pitchFamily="82" charset="0"/>
              </a:rPr>
              <a:t>SPEECH RECOGNIZATION</a:t>
            </a:r>
            <a:endParaRPr lang="en-IN" sz="54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Picture 6" descr="A microphone and a tablet&#10;&#10;AI-generated content may be incorrect.">
            <a:extLst>
              <a:ext uri="{FF2B5EF4-FFF2-40B4-BE49-F238E27FC236}">
                <a16:creationId xmlns:a16="http://schemas.microsoft.com/office/drawing/2014/main" id="{16FCE7F5-C363-EA70-DFEC-0A4C433E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2583106"/>
            <a:ext cx="6259504" cy="262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1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CB98-60C5-1CF4-B896-84C3E317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45" y="609600"/>
            <a:ext cx="5841506" cy="97062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rgbClr val="00B0F0"/>
                </a:solidFill>
                <a:latin typeface="Algerian" panose="04020705040A02060702" pitchFamily="82" charset="0"/>
              </a:rPr>
              <a:t>Cyber security </a:t>
            </a:r>
            <a:endParaRPr lang="en-IN" sz="60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A0F59-48FA-D7BC-4105-0F574927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708" y="1864312"/>
            <a:ext cx="7643218" cy="41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1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22CA-7B9A-B9F6-0BBC-1E08B25C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9621174" cy="121919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PRODUCT RECOMMENDATIONS</a:t>
            </a:r>
            <a:endParaRPr lang="en-IN" sz="60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626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5920-3528-0897-7BD4-72C73834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1"/>
            <a:ext cx="7366246" cy="890726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6000" dirty="0" err="1">
                <a:solidFill>
                  <a:srgbClr val="33CCFF"/>
                </a:solidFill>
                <a:latin typeface="Algerian" panose="04020705040A02060702" pitchFamily="82" charset="0"/>
              </a:rPr>
              <a:t>FACe</a:t>
            </a:r>
            <a:r>
              <a:rPr lang="en-US" sz="6000" dirty="0">
                <a:solidFill>
                  <a:srgbClr val="33CCFF"/>
                </a:solidFill>
                <a:latin typeface="Algerian" panose="04020705040A02060702" pitchFamily="82" charset="0"/>
              </a:rPr>
              <a:t> </a:t>
            </a:r>
            <a:r>
              <a:rPr lang="en-US" sz="6000" dirty="0" err="1">
                <a:solidFill>
                  <a:srgbClr val="33CCFF"/>
                </a:solidFill>
                <a:latin typeface="Algerian" panose="04020705040A02060702" pitchFamily="82" charset="0"/>
              </a:rPr>
              <a:t>recognization</a:t>
            </a:r>
            <a:endParaRPr lang="en-IN" sz="6000" dirty="0">
              <a:solidFill>
                <a:srgbClr val="33CCFF"/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B8CDBA-7124-1166-AA0F-F40EF4B7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992" y="2301904"/>
            <a:ext cx="5885433" cy="389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52BF-5DC1-4D58-ED46-D3AA6BB5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1"/>
            <a:ext cx="8028991" cy="1200538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Medical field</a:t>
            </a:r>
            <a:endParaRPr lang="en-IN" sz="60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77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7B44-D7A8-DC15-DB72-933DC264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7916661" cy="121032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  <a:latin typeface="Algerian" panose="04020705040A02060702" pitchFamily="82" charset="0"/>
              </a:rPr>
              <a:t>EMAIL SPAM DETECTION</a:t>
            </a:r>
            <a:endParaRPr lang="en-IN" sz="54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2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C1CB-7371-AD54-C2DA-9CBE747C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7667624" cy="91735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92D050"/>
                </a:solidFill>
                <a:latin typeface="Algerian" panose="04020705040A02060702" pitchFamily="82" charset="0"/>
              </a:rPr>
              <a:t>Weather predictions</a:t>
            </a:r>
            <a:endParaRPr lang="en-IN" sz="5400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84BED-36E5-973F-BE2F-63E0CCFA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42" y="2050742"/>
            <a:ext cx="7217083" cy="40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2FD4-395A-E7AE-6423-D67101F5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i="0" dirty="0">
                <a:solidFill>
                  <a:srgbClr val="00B0F0"/>
                </a:solidFill>
                <a:effectLst/>
                <a:latin typeface="Algerian" panose="04020705040A02060702" pitchFamily="82" charset="0"/>
              </a:rPr>
              <a:t>Advantages of ML</a:t>
            </a:r>
            <a:br>
              <a:rPr lang="en-US" b="1" i="0" dirty="0">
                <a:solidFill>
                  <a:srgbClr val="272626"/>
                </a:solidFill>
                <a:effectLst/>
                <a:latin typeface="var(--headingsfontfamily)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043E-D2E1-B380-A5D9-EF4834FF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09205"/>
            <a:ext cx="10131425" cy="4971494"/>
          </a:xfrm>
        </p:spPr>
        <p:txBody>
          <a:bodyPr>
            <a:normAutofit/>
          </a:bodyPr>
          <a:lstStyle/>
          <a:p>
            <a:pPr algn="l"/>
            <a:endParaRPr lang="en-US" b="1" i="0" dirty="0">
              <a:solidFill>
                <a:srgbClr val="272626"/>
              </a:solidFill>
              <a:effectLst/>
              <a:latin typeface="var(--headingsfontfamily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Fast, Accurate, Efficient.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Automation of most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Wide range of real life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Enhanced cyber security and spam detection.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 human Intervention</a:t>
            </a: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 is needed.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Handling multi dimensional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88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8C4D-2DFD-7AE5-5B4E-F1296D1D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Life Cycle of Machine Learning</a:t>
            </a:r>
          </a:p>
        </p:txBody>
      </p:sp>
      <p:pic>
        <p:nvPicPr>
          <p:cNvPr id="5" name="Content Placeholder 4" descr="A diagram of a machine learning lifecycle&#10;&#10;AI-generated content may be incorrect.">
            <a:extLst>
              <a:ext uri="{FF2B5EF4-FFF2-40B4-BE49-F238E27FC236}">
                <a16:creationId xmlns:a16="http://schemas.microsoft.com/office/drawing/2014/main" id="{155426F0-CA29-CEF9-62B7-254533859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120" y="2207572"/>
            <a:ext cx="7597798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44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A8E1-EB3B-B223-EC03-1EE60FDE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A04DE-2608-C362-D02A-FAD5A39D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u="sng" dirty="0">
                <a:hlinkClick r:id="rId2"/>
              </a:rPr>
              <a:t>scikit-learn: machine learning in Python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9237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4378-F7DA-7429-9F3D-59C68373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1.sklearn.model_selection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E4A41-ED03-153A-7E82-3098F21F7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Used for data splitting and validation</a:t>
            </a:r>
          </a:p>
          <a:p>
            <a:r>
              <a:rPr lang="en-IN" dirty="0"/>
              <a:t>Common functions:</a:t>
            </a:r>
          </a:p>
          <a:p>
            <a:r>
              <a:rPr lang="en-IN" dirty="0" err="1">
                <a:solidFill>
                  <a:schemeClr val="accent5"/>
                </a:solidFill>
              </a:rPr>
              <a:t>train_test_split</a:t>
            </a:r>
            <a:r>
              <a:rPr lang="en-IN" dirty="0">
                <a:solidFill>
                  <a:schemeClr val="accent5"/>
                </a:solidFill>
              </a:rPr>
              <a:t>()</a:t>
            </a:r>
            <a:r>
              <a:rPr lang="en-IN" dirty="0"/>
              <a:t> </a:t>
            </a:r>
          </a:p>
          <a:p>
            <a:r>
              <a:rPr lang="en-IN" dirty="0" err="1">
                <a:solidFill>
                  <a:srgbClr val="00B050"/>
                </a:solidFill>
              </a:rPr>
              <a:t>cross_val_score</a:t>
            </a:r>
            <a:r>
              <a:rPr lang="en-IN" dirty="0">
                <a:solidFill>
                  <a:srgbClr val="00B050"/>
                </a:solidFill>
              </a:rPr>
              <a:t>()</a:t>
            </a:r>
          </a:p>
          <a:p>
            <a:r>
              <a:rPr lang="en-IN" dirty="0" err="1">
                <a:solidFill>
                  <a:srgbClr val="002060"/>
                </a:solidFill>
              </a:rPr>
              <a:t>GridSearchCV</a:t>
            </a:r>
            <a:r>
              <a:rPr lang="en-IN" dirty="0">
                <a:solidFill>
                  <a:srgbClr val="002060"/>
                </a:solidFill>
              </a:rPr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from sklearn.model_selection import train_test_split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X_train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X_test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y_train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y_test</a:t>
            </a:r>
            <a:r>
              <a:rPr lang="en-IN" dirty="0">
                <a:solidFill>
                  <a:srgbClr val="FF0000"/>
                </a:solidFill>
              </a:rPr>
              <a:t> = train_test_split(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X, y, </a:t>
            </a:r>
            <a:r>
              <a:rPr lang="en-IN" dirty="0" err="1">
                <a:solidFill>
                  <a:srgbClr val="FF0000"/>
                </a:solidFill>
              </a:rPr>
              <a:t>test_size</a:t>
            </a:r>
            <a:r>
              <a:rPr lang="en-IN" dirty="0">
                <a:solidFill>
                  <a:srgbClr val="FF0000"/>
                </a:solidFill>
              </a:rPr>
              <a:t>=0.2, </a:t>
            </a:r>
            <a:r>
              <a:rPr lang="en-IN" dirty="0" err="1">
                <a:solidFill>
                  <a:srgbClr val="FF0000"/>
                </a:solidFill>
              </a:rPr>
              <a:t>random_state</a:t>
            </a:r>
            <a:r>
              <a:rPr lang="en-IN" dirty="0">
                <a:solidFill>
                  <a:srgbClr val="FF0000"/>
                </a:solidFill>
              </a:rPr>
              <a:t>=42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454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11BB77-4858-2816-AD34-0011B69917B7}"/>
              </a:ext>
            </a:extLst>
          </p:cNvPr>
          <p:cNvGraphicFramePr>
            <a:graphicFrameLocks noGrp="1"/>
          </p:cNvGraphicFramePr>
          <p:nvPr/>
        </p:nvGraphicFramePr>
        <p:xfrm>
          <a:off x="677863" y="2272506"/>
          <a:ext cx="8596312" cy="36576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48533180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792055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22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train_test_split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Split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85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cross_val_score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Evaluate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23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KFold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K-fold CV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9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StratifiedKFold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 folds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2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LeaveOneOut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754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GridSearchCV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hyperparameters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50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RandomizedSearchCV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71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ShuffleSplit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87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StratifiedShuffleSplit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Balanced random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889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57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D865-F023-4342-C59C-8386BD92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</a:t>
            </a:r>
            <a:r>
              <a:rPr lang="en-IN" dirty="0" err="1"/>
              <a:t>sklearn.preprocessing</a:t>
            </a:r>
            <a:r>
              <a:rPr lang="en-IN" dirty="0"/>
              <a:t>-Data </a:t>
            </a:r>
            <a:r>
              <a:rPr lang="en-IN" dirty="0" err="1"/>
              <a:t>PreProcessing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E2DE-915B-6377-6796-A4C79366B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sklearn.preprocessing</a:t>
            </a:r>
            <a:r>
              <a:rPr lang="en-US" dirty="0"/>
              <a:t> module is used for </a:t>
            </a:r>
            <a:r>
              <a:rPr lang="en-US" b="1" dirty="0"/>
              <a:t>data cleaning, scaling, normalization, and encoding</a:t>
            </a:r>
            <a:r>
              <a:rPr lang="en-US" dirty="0"/>
              <a:t> before training Machine Learning models.</a:t>
            </a:r>
          </a:p>
          <a:p>
            <a:r>
              <a:rPr lang="en-IN" dirty="0">
                <a:solidFill>
                  <a:srgbClr val="FF0000"/>
                </a:solidFill>
              </a:rPr>
              <a:t>Common classes:</a:t>
            </a:r>
          </a:p>
          <a:p>
            <a:r>
              <a:rPr lang="en-IN" dirty="0" err="1"/>
              <a:t>StandardScaler</a:t>
            </a:r>
            <a:endParaRPr lang="en-IN" dirty="0"/>
          </a:p>
          <a:p>
            <a:r>
              <a:rPr lang="en-IN" dirty="0" err="1"/>
              <a:t>MinMaxScaler</a:t>
            </a:r>
            <a:endParaRPr lang="en-IN" dirty="0"/>
          </a:p>
          <a:p>
            <a:r>
              <a:rPr lang="en-IN" dirty="0" err="1"/>
              <a:t>LabelEncoder</a:t>
            </a:r>
            <a:endParaRPr lang="en-IN" dirty="0"/>
          </a:p>
          <a:p>
            <a:r>
              <a:rPr lang="en-IN" dirty="0" err="1"/>
              <a:t>OneHotEncoder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StandardScaler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55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B86F-AD4B-1D2B-4EE1-C7D75F29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367606" cy="678180"/>
          </a:xfrm>
        </p:spPr>
        <p:txBody>
          <a:bodyPr/>
          <a:lstStyle/>
          <a:p>
            <a:r>
              <a:rPr lang="en-IN" dirty="0"/>
              <a:t>Types of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888-FE24-BBC9-CEA5-43548048A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620" y="1607821"/>
            <a:ext cx="8504382" cy="4433542"/>
          </a:xfrm>
        </p:spPr>
        <p:txBody>
          <a:bodyPr/>
          <a:lstStyle/>
          <a:p>
            <a:r>
              <a:rPr lang="en-IN" dirty="0"/>
              <a:t>Purpose: Normalize data so ML models work correctly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A3E018-243F-352B-EF5D-533E75190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52755"/>
              </p:ext>
            </p:extLst>
          </p:nvPr>
        </p:nvGraphicFramePr>
        <p:xfrm>
          <a:off x="1051243" y="2976562"/>
          <a:ext cx="8293080" cy="3881438"/>
        </p:xfrm>
        <a:graphic>
          <a:graphicData uri="http://schemas.openxmlformats.org/drawingml/2006/table">
            <a:tbl>
              <a:tblPr/>
              <a:tblGrid>
                <a:gridCol w="4146540">
                  <a:extLst>
                    <a:ext uri="{9D8B030D-6E8A-4147-A177-3AD203B41FA5}">
                      <a16:colId xmlns:a16="http://schemas.microsoft.com/office/drawing/2014/main" val="1229892845"/>
                    </a:ext>
                  </a:extLst>
                </a:gridCol>
                <a:gridCol w="4146540">
                  <a:extLst>
                    <a:ext uri="{9D8B030D-6E8A-4147-A177-3AD203B41FA5}">
                      <a16:colId xmlns:a16="http://schemas.microsoft.com/office/drawing/2014/main" val="693124666"/>
                    </a:ext>
                  </a:extLst>
                </a:gridCol>
              </a:tblGrid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Method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Purpose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57496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 err="1"/>
                        <a:t>StandardScaler</a:t>
                      </a:r>
                      <a:endParaRPr lang="en-IN" sz="1700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Mean=0, Std=1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20339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MinMaxScaler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Range [0,1]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840569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Normalizer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Unit norm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703648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LabelEncoder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Encode labels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838067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OneHotEncoder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Encode categories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009399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OrdinalEncoder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Ordered categories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16775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Binarizer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Binary conversion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488043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PolynomialFeatures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Feature expansion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777701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PowerTransformer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Normalize distribution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68313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FunctionTransformer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Custom transform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658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11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8B71D-8D9D-FB25-A197-D3D32552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744F-9D7A-5B92-4B08-F7AEE863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Choose Models-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7A966-56B5-4438-B399-0B272F2D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600200"/>
            <a:ext cx="8534862" cy="4441163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Linear Models-    </a:t>
            </a:r>
            <a:r>
              <a:rPr lang="en-IN" dirty="0" err="1">
                <a:highlight>
                  <a:srgbClr val="FFFF00"/>
                </a:highlight>
              </a:rPr>
              <a:t>sklearn.linear_model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 err="1"/>
              <a:t>LinearRegression</a:t>
            </a:r>
            <a:r>
              <a:rPr lang="en-IN" dirty="0"/>
              <a:t>-</a:t>
            </a:r>
          </a:p>
          <a:p>
            <a:r>
              <a:rPr lang="en-IN" dirty="0" err="1"/>
              <a:t>LogisticRegression</a:t>
            </a:r>
            <a:endParaRPr lang="en-IN" dirty="0"/>
          </a:p>
          <a:p>
            <a:r>
              <a:rPr lang="en-IN" dirty="0" err="1"/>
              <a:t>RidegeRegreesion</a:t>
            </a:r>
            <a:endParaRPr lang="en-IN" dirty="0"/>
          </a:p>
          <a:p>
            <a:r>
              <a:rPr lang="en-IN" dirty="0" err="1"/>
              <a:t>LassoRegression</a:t>
            </a:r>
            <a:endParaRPr lang="en-IN" dirty="0"/>
          </a:p>
          <a:p>
            <a:r>
              <a:rPr lang="en-IN" dirty="0" err="1">
                <a:highlight>
                  <a:srgbClr val="FFFF00"/>
                </a:highlight>
              </a:rPr>
              <a:t>TreeModels-sklearn.tree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 err="1"/>
              <a:t>DecisionTreeRegressor</a:t>
            </a:r>
            <a:endParaRPr lang="en-IN" dirty="0"/>
          </a:p>
          <a:p>
            <a:r>
              <a:rPr lang="en-IN" dirty="0" err="1"/>
              <a:t>DecisionTreeClassifer</a:t>
            </a:r>
            <a:endParaRPr lang="en-IN" dirty="0"/>
          </a:p>
          <a:p>
            <a:r>
              <a:rPr lang="en-IN" dirty="0" err="1"/>
              <a:t>Neghbors</a:t>
            </a:r>
            <a:r>
              <a:rPr lang="en-IN" dirty="0"/>
              <a:t> Based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41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A68C-DAE5-3700-B939-B208D0AE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Choose Models-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52C03-C9D7-42E8-939B-932A6398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600200"/>
            <a:ext cx="8534862" cy="4441163"/>
          </a:xfrm>
        </p:spPr>
        <p:txBody>
          <a:bodyPr/>
          <a:lstStyle/>
          <a:p>
            <a:r>
              <a:rPr lang="en-IN" dirty="0" err="1">
                <a:highlight>
                  <a:srgbClr val="FFFF00"/>
                </a:highlight>
              </a:rPr>
              <a:t>Neghbors</a:t>
            </a:r>
            <a:r>
              <a:rPr lang="en-IN" dirty="0">
                <a:highlight>
                  <a:srgbClr val="FFFF00"/>
                </a:highlight>
              </a:rPr>
              <a:t> Based Models-</a:t>
            </a:r>
            <a:r>
              <a:rPr lang="en-IN" dirty="0" err="1">
                <a:highlight>
                  <a:srgbClr val="FFFF00"/>
                </a:highlight>
              </a:rPr>
              <a:t>sklearn.neighbors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 err="1"/>
              <a:t>KNeighborsClassifer</a:t>
            </a:r>
            <a:endParaRPr lang="en-IN" dirty="0"/>
          </a:p>
          <a:p>
            <a:r>
              <a:rPr lang="en-IN" dirty="0" err="1"/>
              <a:t>KNeighborsRegressor</a:t>
            </a:r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Kernel Based/Margin Based Models-</a:t>
            </a:r>
            <a:r>
              <a:rPr lang="en-IN" b="1" dirty="0" err="1">
                <a:highlight>
                  <a:srgbClr val="FFFF00"/>
                </a:highlight>
              </a:rPr>
              <a:t>sklearn.svm</a:t>
            </a:r>
            <a:r>
              <a:rPr lang="en-IN" dirty="0">
                <a:highlight>
                  <a:srgbClr val="FFFF00"/>
                </a:highlight>
              </a:rPr>
              <a:t> </a:t>
            </a:r>
          </a:p>
          <a:p>
            <a:r>
              <a:rPr lang="en-IN" dirty="0"/>
              <a:t>SVM</a:t>
            </a:r>
          </a:p>
          <a:p>
            <a:r>
              <a:rPr lang="en-IN" dirty="0"/>
              <a:t>SVC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59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900D-7F5D-0CE0-579E-599E76BB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4" y="220980"/>
            <a:ext cx="7887546" cy="914400"/>
          </a:xfrm>
        </p:spPr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A5A7-DE07-8CD3-F084-581FFD468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7321"/>
            <a:ext cx="8588202" cy="4624042"/>
          </a:xfrm>
        </p:spPr>
        <p:txBody>
          <a:bodyPr/>
          <a:lstStyle/>
          <a:p>
            <a:r>
              <a:rPr lang="en-IN" b="1" dirty="0" err="1"/>
              <a:t>sklearn.metrics</a:t>
            </a:r>
            <a:r>
              <a:rPr lang="en-IN" b="1" dirty="0"/>
              <a:t> – Model Evaluation</a:t>
            </a:r>
          </a:p>
          <a:p>
            <a:r>
              <a:rPr lang="en-IN" b="1" dirty="0"/>
              <a:t>Purpose:</a:t>
            </a:r>
            <a:r>
              <a:rPr lang="en-IN" dirty="0"/>
              <a:t> Evaluate classification &amp; regression performance</a:t>
            </a:r>
          </a:p>
          <a:p>
            <a:r>
              <a:rPr lang="en-IN" b="1" dirty="0"/>
              <a:t>Common Functions:</a:t>
            </a:r>
            <a:endParaRPr lang="en-IN" dirty="0"/>
          </a:p>
          <a:p>
            <a:pPr lvl="1"/>
            <a:r>
              <a:rPr lang="en-IN" dirty="0" err="1"/>
              <a:t>accuracy_score</a:t>
            </a:r>
            <a:r>
              <a:rPr lang="en-IN" dirty="0"/>
              <a:t>() → Classification accuracy</a:t>
            </a:r>
          </a:p>
          <a:p>
            <a:pPr lvl="1"/>
            <a:r>
              <a:rPr lang="en-IN" dirty="0" err="1"/>
              <a:t>precision_score</a:t>
            </a:r>
            <a:r>
              <a:rPr lang="en-IN" dirty="0"/>
              <a:t>() → Precision</a:t>
            </a:r>
          </a:p>
          <a:p>
            <a:pPr lvl="1"/>
            <a:r>
              <a:rPr lang="en-IN" dirty="0" err="1"/>
              <a:t>recall_score</a:t>
            </a:r>
            <a:r>
              <a:rPr lang="en-IN" dirty="0"/>
              <a:t>() → Recall</a:t>
            </a:r>
          </a:p>
          <a:p>
            <a:pPr lvl="1"/>
            <a:r>
              <a:rPr lang="en-IN" dirty="0"/>
              <a:t>f1_score() → F1 metric</a:t>
            </a:r>
          </a:p>
          <a:p>
            <a:pPr lvl="1"/>
            <a:r>
              <a:rPr lang="en-IN" dirty="0" err="1"/>
              <a:t>roc_auc_score</a:t>
            </a:r>
            <a:r>
              <a:rPr lang="en-IN" dirty="0"/>
              <a:t>() → ROC AUC</a:t>
            </a:r>
          </a:p>
          <a:p>
            <a:pPr lvl="1"/>
            <a:r>
              <a:rPr lang="en-IN" dirty="0" err="1"/>
              <a:t>confusion_matrix</a:t>
            </a:r>
            <a:r>
              <a:rPr lang="en-IN" dirty="0"/>
              <a:t>() → 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94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5781-BDCC-8D3A-09CB-64FE03D2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068C-4D00-8BDE-CFC8-C25C5A71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4AE5-94D9-B9D8-5F63-37FEE135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828801"/>
            <a:ext cx="8534862" cy="4212562"/>
          </a:xfrm>
        </p:spPr>
        <p:txBody>
          <a:bodyPr/>
          <a:lstStyle/>
          <a:p>
            <a:r>
              <a:rPr lang="en-IN" b="1" dirty="0" err="1"/>
              <a:t>sklearn.metrics</a:t>
            </a:r>
            <a:r>
              <a:rPr lang="en-IN" b="1" dirty="0"/>
              <a:t> – Model Evaluation</a:t>
            </a:r>
          </a:p>
          <a:p>
            <a:r>
              <a:rPr lang="en-IN" b="1" dirty="0"/>
              <a:t>Purpose:</a:t>
            </a:r>
            <a:r>
              <a:rPr lang="en-IN" dirty="0"/>
              <a:t> Evaluate classification &amp; regression performance</a:t>
            </a:r>
          </a:p>
          <a:p>
            <a:r>
              <a:rPr lang="en-IN" b="1" dirty="0"/>
              <a:t>Common Functions:</a:t>
            </a:r>
            <a:endParaRPr lang="en-IN" dirty="0"/>
          </a:p>
          <a:p>
            <a:pPr lvl="1"/>
            <a:r>
              <a:rPr lang="en-IN" dirty="0" err="1"/>
              <a:t>mean_absolute_error</a:t>
            </a:r>
            <a:r>
              <a:rPr lang="en-IN" dirty="0"/>
              <a:t>,</a:t>
            </a:r>
          </a:p>
          <a:p>
            <a:pPr lvl="1"/>
            <a:r>
              <a:rPr lang="en-IN" dirty="0"/>
              <a:t> </a:t>
            </a:r>
            <a:r>
              <a:rPr lang="en-IN" dirty="0" err="1"/>
              <a:t>mean_squared_error</a:t>
            </a:r>
            <a:r>
              <a:rPr lang="en-IN" dirty="0"/>
              <a:t>,</a:t>
            </a:r>
          </a:p>
          <a:p>
            <a:pPr lvl="1"/>
            <a:r>
              <a:rPr lang="en-IN" dirty="0"/>
              <a:t> r2_score</a:t>
            </a:r>
          </a:p>
        </p:txBody>
      </p:sp>
    </p:spTree>
    <p:extLst>
      <p:ext uri="{BB962C8B-B14F-4D97-AF65-F5344CB8AC3E}">
        <p14:creationId xmlns:p14="http://schemas.microsoft.com/office/powerpoint/2010/main" val="1590117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1D5F-2D1D-5785-7308-9346C573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Methods in scikit-learn Models</a:t>
            </a:r>
            <a:endParaRPr lang="en-IN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EC6438F-40AC-4EB6-F134-6427C69A8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fit(</a:t>
            </a:r>
            <a:r>
              <a:rPr lang="en-IN" dirty="0" err="1"/>
              <a:t>X,y</a:t>
            </a:r>
            <a:r>
              <a:rPr lang="en-IN" dirty="0"/>
              <a:t>)-Train the model on the given dataset-</a:t>
            </a:r>
            <a:r>
              <a:rPr lang="en-IN" dirty="0" err="1"/>
              <a:t>model.predict</a:t>
            </a:r>
            <a:r>
              <a:rPr lang="en-IN" dirty="0"/>
              <a:t>(</a:t>
            </a:r>
            <a:r>
              <a:rPr lang="en-IN" dirty="0" err="1"/>
              <a:t>X_train,y_train</a:t>
            </a:r>
            <a:r>
              <a:rPr lang="en-IN" dirty="0"/>
              <a:t>)</a:t>
            </a:r>
          </a:p>
          <a:p>
            <a:r>
              <a:rPr lang="en-IN" dirty="0"/>
              <a:t>Predict(X)-</a:t>
            </a:r>
            <a:r>
              <a:rPr lang="en-IN" dirty="0" err="1"/>
              <a:t>y_pred</a:t>
            </a:r>
            <a:r>
              <a:rPr lang="en-IN" dirty="0"/>
              <a:t>=</a:t>
            </a:r>
            <a:r>
              <a:rPr lang="en-IN" dirty="0" err="1"/>
              <a:t>model.predict</a:t>
            </a:r>
            <a:r>
              <a:rPr lang="en-IN" dirty="0"/>
              <a:t>(</a:t>
            </a:r>
            <a:r>
              <a:rPr lang="en-IN" dirty="0" err="1"/>
              <a:t>x_test</a:t>
            </a:r>
            <a:r>
              <a:rPr lang="en-IN" dirty="0"/>
              <a:t>)</a:t>
            </a:r>
          </a:p>
          <a:p>
            <a:r>
              <a:rPr lang="en-IN" dirty="0"/>
              <a:t>Score(</a:t>
            </a:r>
            <a:r>
              <a:rPr lang="en-IN" dirty="0" err="1"/>
              <a:t>X,y</a:t>
            </a:r>
            <a:r>
              <a:rPr lang="en-IN" dirty="0"/>
              <a:t>)-</a:t>
            </a:r>
            <a:r>
              <a:rPr lang="en-IN" dirty="0" err="1"/>
              <a:t>model.score</a:t>
            </a:r>
            <a:r>
              <a:rPr lang="en-IN" dirty="0"/>
              <a:t>(</a:t>
            </a:r>
            <a:r>
              <a:rPr lang="en-IN" dirty="0" err="1"/>
              <a:t>x_test,y_test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8353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0776-D13E-61E1-090F-75EB202F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Stepts</a:t>
            </a:r>
            <a:r>
              <a:rPr lang="en-IN" dirty="0"/>
              <a:t> in 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8255-0F03-BE34-F635-B5B386EFA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packages</a:t>
            </a:r>
          </a:p>
          <a:p>
            <a:r>
              <a:rPr lang="en-IN" dirty="0"/>
              <a:t>Load dataset</a:t>
            </a:r>
          </a:p>
          <a:p>
            <a:r>
              <a:rPr lang="en-IN" dirty="0"/>
              <a:t>Preprocess data set</a:t>
            </a:r>
          </a:p>
          <a:p>
            <a:r>
              <a:rPr lang="en-IN" dirty="0"/>
              <a:t>Split dataset</a:t>
            </a:r>
          </a:p>
          <a:p>
            <a:r>
              <a:rPr lang="en-IN" dirty="0"/>
              <a:t>Create model instance</a:t>
            </a:r>
          </a:p>
          <a:p>
            <a:r>
              <a:rPr lang="en-IN" dirty="0"/>
              <a:t>Fit the model</a:t>
            </a:r>
          </a:p>
          <a:p>
            <a:r>
              <a:rPr lang="en-IN" dirty="0"/>
              <a:t>Evaluate the model</a:t>
            </a:r>
          </a:p>
          <a:p>
            <a:r>
              <a:rPr lang="en-IN" dirty="0"/>
              <a:t>Predict New Unseen Samples</a:t>
            </a:r>
          </a:p>
        </p:txBody>
      </p:sp>
    </p:spTree>
    <p:extLst>
      <p:ext uri="{BB962C8B-B14F-4D97-AF65-F5344CB8AC3E}">
        <p14:creationId xmlns:p14="http://schemas.microsoft.com/office/powerpoint/2010/main" val="1851166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1145-1E1C-376A-0F11-D83A4386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Tkinter</a:t>
            </a:r>
            <a:r>
              <a:rPr lang="en-IN" dirty="0"/>
              <a:t>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C6EE3-A430-0ADE-07F9-662663534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Tkinter</a:t>
            </a:r>
            <a:r>
              <a:rPr lang="en-IN" b="1" dirty="0"/>
              <a:t> Module in Python</a:t>
            </a:r>
          </a:p>
          <a:p>
            <a:r>
              <a:rPr lang="en-IN" b="1" dirty="0" err="1"/>
              <a:t>Tkinter</a:t>
            </a:r>
            <a:r>
              <a:rPr lang="en-IN" dirty="0"/>
              <a:t> is the </a:t>
            </a:r>
            <a:r>
              <a:rPr lang="en-IN" b="1" dirty="0"/>
              <a:t>standard GUI (Graphical User Interface) library</a:t>
            </a:r>
            <a:r>
              <a:rPr lang="en-IN" dirty="0"/>
              <a:t> for Python.</a:t>
            </a:r>
          </a:p>
          <a:p>
            <a:r>
              <a:rPr lang="en-IN" dirty="0"/>
              <a:t>It is </a:t>
            </a:r>
            <a:r>
              <a:rPr lang="en-IN" b="1" dirty="0"/>
              <a:t>built-in</a:t>
            </a:r>
            <a:r>
              <a:rPr lang="en-IN" dirty="0"/>
              <a:t>, no extra installation required (import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r>
              <a:rPr lang="en-IN" dirty="0"/>
              <a:t>).</a:t>
            </a:r>
          </a:p>
          <a:p>
            <a:r>
              <a:rPr lang="en-IN" dirty="0"/>
              <a:t>Provides </a:t>
            </a:r>
            <a:r>
              <a:rPr lang="en-IN" b="1" dirty="0"/>
              <a:t>widgets</a:t>
            </a:r>
            <a:r>
              <a:rPr lang="en-IN" dirty="0"/>
              <a:t> like buttons, labels, text boxes, frames, menus, and more.</a:t>
            </a:r>
          </a:p>
          <a:p>
            <a:r>
              <a:rPr lang="en-IN" dirty="0"/>
              <a:t>Runs on </a:t>
            </a:r>
            <a:r>
              <a:rPr lang="en-IN" b="1" dirty="0"/>
              <a:t>Windows, macOS, Linux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973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8CB6-F366-7C7B-30B2-ECEAFA37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43451-45D8-C9DA-B996-75AF0BB9E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:</a:t>
            </a:r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461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18DA-455E-002F-18B6-7D1B41E8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</a:t>
            </a:r>
            <a:r>
              <a:rPr lang="en-IN" dirty="0" err="1"/>
              <a:t>MainWindow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990A-6C57-9896-7F9B-784540827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 = </a:t>
            </a:r>
            <a:r>
              <a:rPr lang="en-US" dirty="0" err="1"/>
              <a:t>tk.Tk</a:t>
            </a:r>
            <a:r>
              <a:rPr lang="en-US" dirty="0"/>
              <a:t>()</a:t>
            </a:r>
          </a:p>
          <a:p>
            <a:r>
              <a:rPr lang="en-US" dirty="0" err="1"/>
              <a:t>root.title</a:t>
            </a:r>
            <a:r>
              <a:rPr lang="en-US" dirty="0"/>
              <a:t>("My App")</a:t>
            </a:r>
          </a:p>
          <a:p>
            <a:r>
              <a:rPr lang="en-US" dirty="0" err="1"/>
              <a:t>root.geometry</a:t>
            </a:r>
            <a:r>
              <a:rPr lang="en-US" dirty="0"/>
              <a:t>("400x400")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195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E44F-0C5C-09EF-DAC1-5C0945C5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Add widgets (buttons, labels, entries).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652124-1008-038A-6E6E-84B19543AB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4152" y="2160588"/>
          <a:ext cx="7763734" cy="3881436"/>
        </p:xfrm>
        <a:graphic>
          <a:graphicData uri="http://schemas.openxmlformats.org/drawingml/2006/table">
            <a:tbl>
              <a:tblPr/>
              <a:tblGrid>
                <a:gridCol w="3881867">
                  <a:extLst>
                    <a:ext uri="{9D8B030D-6E8A-4147-A177-3AD203B41FA5}">
                      <a16:colId xmlns:a16="http://schemas.microsoft.com/office/drawing/2014/main" val="991904512"/>
                    </a:ext>
                  </a:extLst>
                </a:gridCol>
                <a:gridCol w="3881867">
                  <a:extLst>
                    <a:ext uri="{9D8B030D-6E8A-4147-A177-3AD203B41FA5}">
                      <a16:colId xmlns:a16="http://schemas.microsoft.com/office/drawing/2014/main" val="1842362282"/>
                    </a:ext>
                  </a:extLst>
                </a:gridCol>
              </a:tblGrid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Widget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Usage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235601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Label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 text or image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055930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Button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Clickable button (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command</a:t>
                      </a:r>
                      <a:r>
                        <a:rPr lang="en-US" sz="1600"/>
                        <a:t> links function)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69858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Entry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Single-line input field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880614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Text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Multi-line text area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315916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Checkbutton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Checkbox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483903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Radiobutton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Radio button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1513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Frame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Container for grouping widgets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20164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Menu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Dropdown menu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770699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MessageBox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Popup dialog for info, warning, error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855312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FileDialog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Open/save file dialog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68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739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2FC2-4166-FFFE-6AA2-29271591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1638-21EF-6CB3-8851-ACC1AFD2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Add widgets (buttons, labels, entries).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43C2C-0662-1AA6-B510-C7F94E196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tk.Label</a:t>
            </a:r>
            <a:r>
              <a:rPr lang="en-US" dirty="0"/>
              <a:t>(root, text="Enter Age").pack()</a:t>
            </a:r>
          </a:p>
          <a:p>
            <a:r>
              <a:rPr lang="en-US" dirty="0" err="1"/>
              <a:t>tk.Button</a:t>
            </a:r>
            <a:r>
              <a:rPr lang="en-US" dirty="0"/>
              <a:t>(root, text="Submit", command=</a:t>
            </a:r>
            <a:r>
              <a:rPr lang="en-US" dirty="0" err="1"/>
              <a:t>func</a:t>
            </a:r>
            <a:r>
              <a:rPr lang="en-US" dirty="0"/>
              <a:t>).pack()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761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BD41-78DC-E116-70DD-29E8DD6F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Slide 4: Geometry Managers (Positioning Widgets)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95E07-84B9-9E87-62A7-B28BBF240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Three types:</a:t>
            </a:r>
            <a:endParaRPr lang="en-US" dirty="0"/>
          </a:p>
          <a:p>
            <a:r>
              <a:rPr lang="en-US" b="1" dirty="0"/>
              <a:t>pack()</a:t>
            </a:r>
            <a:r>
              <a:rPr lang="en-US" dirty="0"/>
              <a:t> → Stack widgets (top, bottom, left, right)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546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0408-1A8A-213F-1AC0-C46947CD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grid()</a:t>
            </a:r>
            <a:r>
              <a:rPr lang="en-US" dirty="0"/>
              <a:t> → Arrange in rows and columns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912DD-196F-D753-52C5-1DC4DFE44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tk.Label</a:t>
            </a:r>
            <a:r>
              <a:rPr lang="en-US" dirty="0"/>
              <a:t>(root, text="Age").grid(row=0, column=0)</a:t>
            </a:r>
          </a:p>
          <a:p>
            <a:r>
              <a:rPr lang="en-US" dirty="0" err="1"/>
              <a:t>tk.Entry</a:t>
            </a:r>
            <a:r>
              <a:rPr lang="en-US" dirty="0"/>
              <a:t>(root).grid(row=0, column=1)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557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7412-FB9C-F9A3-27BA-CDD581AF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place()</a:t>
            </a:r>
            <a:r>
              <a:rPr lang="en-IN" dirty="0"/>
              <a:t> → Absolute positioning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59A73-02AD-693C-1167-408CC290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label.place</a:t>
            </a:r>
            <a:r>
              <a:rPr lang="es-ES" dirty="0"/>
              <a:t>(x=50, y=100)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861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7FB9-2408-82A5-91CA-ACAB7BDE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Handling and Commands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23130-5532-F6C7-036B-499B792D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command parameter</a:t>
            </a:r>
            <a:r>
              <a:rPr lang="en-US" dirty="0"/>
              <a:t> in Button to call a function:</a:t>
            </a:r>
          </a:p>
          <a:p>
            <a:r>
              <a:rPr lang="en-US" dirty="0"/>
              <a:t>def </a:t>
            </a:r>
            <a:r>
              <a:rPr lang="en-US" dirty="0" err="1"/>
              <a:t>say_hello</a:t>
            </a:r>
            <a:r>
              <a:rPr lang="en-US" dirty="0"/>
              <a:t>():</a:t>
            </a:r>
          </a:p>
          <a:p>
            <a:r>
              <a:rPr lang="en-US" dirty="0"/>
              <a:t>    print("Hello!")</a:t>
            </a:r>
          </a:p>
          <a:p>
            <a:endParaRPr lang="en-US" dirty="0"/>
          </a:p>
          <a:p>
            <a:r>
              <a:rPr lang="en-US" dirty="0" err="1"/>
              <a:t>tk.Button</a:t>
            </a:r>
            <a:r>
              <a:rPr lang="en-US" dirty="0"/>
              <a:t>(root, text="Click Me", command=</a:t>
            </a:r>
            <a:r>
              <a:rPr lang="en-US" dirty="0" err="1"/>
              <a:t>say_hello</a:t>
            </a:r>
            <a:r>
              <a:rPr lang="en-US" dirty="0"/>
              <a:t>).pack()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456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0B46-1517-FF03-8112-A2B88C30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Retrieve input from Entry: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404EA-D8AB-E009-E9B2-5F828C88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 = </a:t>
            </a:r>
            <a:r>
              <a:rPr lang="en-IN" dirty="0" err="1"/>
              <a:t>entry.get</a:t>
            </a:r>
            <a:r>
              <a:rPr lang="en-IN" dirty="0"/>
              <a:t>()</a:t>
            </a:r>
          </a:p>
          <a:p>
            <a:r>
              <a:rPr lang="en-US" b="1" dirty="0"/>
              <a:t>Message Boxes and File Dialogs</a:t>
            </a:r>
          </a:p>
          <a:p>
            <a:r>
              <a:rPr lang="en-US" b="1" dirty="0" err="1"/>
              <a:t>MessageBox</a:t>
            </a:r>
            <a:r>
              <a:rPr lang="en-US" dirty="0"/>
              <a:t> → Inform, warn, or show errors</a:t>
            </a:r>
          </a:p>
          <a:p>
            <a:r>
              <a:rPr lang="en-IN" dirty="0"/>
              <a:t>from </a:t>
            </a:r>
            <a:r>
              <a:rPr lang="en-IN" dirty="0" err="1"/>
              <a:t>tkinter</a:t>
            </a:r>
            <a:r>
              <a:rPr lang="en-IN" dirty="0"/>
              <a:t> import </a:t>
            </a:r>
            <a:r>
              <a:rPr lang="en-IN" dirty="0" err="1"/>
              <a:t>filedialog</a:t>
            </a:r>
            <a:endParaRPr lang="en-IN" dirty="0"/>
          </a:p>
          <a:p>
            <a:r>
              <a:rPr lang="en-IN" dirty="0" err="1"/>
              <a:t>file_path</a:t>
            </a:r>
            <a:r>
              <a:rPr lang="en-IN" dirty="0"/>
              <a:t> = </a:t>
            </a:r>
            <a:r>
              <a:rPr lang="en-IN" dirty="0" err="1"/>
              <a:t>filedialog.askopenfilename</a:t>
            </a:r>
            <a:r>
              <a:rPr lang="en-IN" dirty="0"/>
              <a:t>(filetypes=[("CSV files","*.csv")])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737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6C1570-D338-A53F-4943-4BB6BF2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309"/>
            <a:ext cx="10191565" cy="142042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Calisto MT" panose="02040603050505030304" pitchFamily="18" charset="0"/>
              </a:rPr>
              <a:t>Deep learning?</a:t>
            </a:r>
            <a:endParaRPr lang="en-IN" sz="44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F297E-3848-7C12-1E1A-6C3C20B9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044" y="2157274"/>
            <a:ext cx="7261934" cy="3184864"/>
          </a:xfrm>
        </p:spPr>
        <p:txBody>
          <a:bodyPr>
            <a:normAutofit fontScale="85000" lnSpcReduction="20000"/>
          </a:bodyPr>
          <a:lstStyle/>
          <a:p>
            <a:pPr fontAlgn="base"/>
            <a:br>
              <a:rPr lang="en-US" sz="3600" dirty="0"/>
            </a:br>
            <a:r>
              <a:rPr lang="en-US" sz="3600" dirty="0"/>
              <a:t>Deep learning differs from traditional machine learning techniques in that they can automatically learn representations from data such as images, video or text, without introducing hand-coded rules or human domain knowledge.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872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6C1570-D338-A53F-4943-4BB6BF2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309"/>
            <a:ext cx="10191565" cy="142042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Calisto MT" panose="02040603050505030304" pitchFamily="18" charset="0"/>
              </a:rPr>
              <a:t>Deep learning?</a:t>
            </a:r>
            <a:endParaRPr lang="en-IN" sz="44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F297E-3848-7C12-1E1A-6C3C20B9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044" y="2157274"/>
            <a:ext cx="7261934" cy="3184864"/>
          </a:xfrm>
        </p:spPr>
        <p:txBody>
          <a:bodyPr>
            <a:normAutofit fontScale="92500"/>
          </a:bodyPr>
          <a:lstStyle/>
          <a:p>
            <a:pPr fontAlgn="base"/>
            <a:br>
              <a:rPr lang="en-US" sz="3600" dirty="0"/>
            </a:br>
            <a:r>
              <a:rPr lang="en-US" sz="3600" dirty="0"/>
              <a:t> Deep neural networks consist of multiple layers of interconnected nodes, each building upon the previous layer to refine and optimize the prediction or categorization.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8721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929</TotalTime>
  <Words>1109</Words>
  <Application>Microsoft Office PowerPoint</Application>
  <PresentationFormat>Widescreen</PresentationFormat>
  <Paragraphs>213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Algerian</vt:lpstr>
      <vt:lpstr>Arial</vt:lpstr>
      <vt:lpstr>Arial Black</vt:lpstr>
      <vt:lpstr>Arial Rounded MT Bold</vt:lpstr>
      <vt:lpstr>Calisto MT</vt:lpstr>
      <vt:lpstr>Courier New</vt:lpstr>
      <vt:lpstr>Roboto</vt:lpstr>
      <vt:lpstr>Trebuchet MS</vt:lpstr>
      <vt:lpstr>var(--headingsfontfamily)</vt:lpstr>
      <vt:lpstr>Wingdings 3</vt:lpstr>
      <vt:lpstr>Facet</vt:lpstr>
      <vt:lpstr>Machine Learning </vt:lpstr>
      <vt:lpstr>MACHINE LEARNING</vt:lpstr>
      <vt:lpstr>What are the things we are going to see</vt:lpstr>
      <vt:lpstr>What is machine learning?</vt:lpstr>
      <vt:lpstr>PowerPoint Presentation</vt:lpstr>
      <vt:lpstr>PowerPoint Presentation</vt:lpstr>
      <vt:lpstr>Why we need MACHINE LEARNING?</vt:lpstr>
      <vt:lpstr>SPEECH RECOGNIZATION</vt:lpstr>
      <vt:lpstr>Cyber security </vt:lpstr>
      <vt:lpstr>PRODUCT RECOMMENDATIONS</vt:lpstr>
      <vt:lpstr>FACe recognization</vt:lpstr>
      <vt:lpstr>Medical field</vt:lpstr>
      <vt:lpstr>EMAIL SPAM DETECTION</vt:lpstr>
      <vt:lpstr>Weather predictions</vt:lpstr>
      <vt:lpstr>Advantages of ML </vt:lpstr>
      <vt:lpstr>Life Cycle of Machine Learning</vt:lpstr>
      <vt:lpstr>scikit-learn: machine learning in Python — scikit-learn 1.8.0 documentation</vt:lpstr>
      <vt:lpstr>1.sklearn.model_selection </vt:lpstr>
      <vt:lpstr>PowerPoint Presentation</vt:lpstr>
      <vt:lpstr>2. sklearn.preprocessing-Data PreProcessing </vt:lpstr>
      <vt:lpstr>Types of Preprocessing</vt:lpstr>
      <vt:lpstr>Choose Models-</vt:lpstr>
      <vt:lpstr>Choose Models-</vt:lpstr>
      <vt:lpstr>Evaluation Metrics</vt:lpstr>
      <vt:lpstr>Evaluation Metrics</vt:lpstr>
      <vt:lpstr>Common Methods in scikit-learn Models</vt:lpstr>
      <vt:lpstr>Stepts in Model Creation</vt:lpstr>
      <vt:lpstr>Tkinter Module</vt:lpstr>
      <vt:lpstr>import</vt:lpstr>
      <vt:lpstr>Create MainWindow</vt:lpstr>
      <vt:lpstr>Add widgets (buttons, labels, entries). </vt:lpstr>
      <vt:lpstr>Add widgets (buttons, labels, entries). </vt:lpstr>
      <vt:lpstr>Slide 4: Geometry Managers (Positioning Widgets) </vt:lpstr>
      <vt:lpstr>grid() → Arrange in rows and columns</vt:lpstr>
      <vt:lpstr>place() → Absolute positioning </vt:lpstr>
      <vt:lpstr>Event Handling and Commands </vt:lpstr>
      <vt:lpstr>Retrieve input from Entry:</vt:lpstr>
      <vt:lpstr>Deep learning?</vt:lpstr>
      <vt:lpstr>Deep learning?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Anusha Anu</dc:creator>
  <cp:lastModifiedBy>krishna bhanu</cp:lastModifiedBy>
  <cp:revision>11</cp:revision>
  <dcterms:created xsi:type="dcterms:W3CDTF">2022-09-17T14:28:29Z</dcterms:created>
  <dcterms:modified xsi:type="dcterms:W3CDTF">2025-12-22T04:43:52Z</dcterms:modified>
</cp:coreProperties>
</file>